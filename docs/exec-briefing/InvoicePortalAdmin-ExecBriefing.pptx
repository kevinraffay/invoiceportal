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44"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474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Keep this to 30 minutes. Set the tone: this is a proof of concept we built to answer two questions. Can we give ops a modern, safe way to look at and fix Invoice Portal data? And can we try AI on our own data without any risk to production? Spoiler: yes to both, and we'll show it live-ish with screenshots and short clips. Introduce your database colleague and say they'll take the last third.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breath on the agenda. Tell them they can interrupt any time; the deck is a guide, not a script.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 story in plain terms. Ops has to look things up and occasionally fix a record; that currently means someone writing SQL against production. We wanted a screen for that, and we wanted to practice on a copy so nobody has to be brave. The AI part was the bonus: if we already have a safe sandbox with real data, it is the perfect place to test what AI can and cannot do for us.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 browser talks to a web app. The web app talks to a SQL Server that is a full copy of the real database. A tiny helper restores the production backup the first time and then gets out of the way. The AI box is dashed on purpose: today it is a built-in stand-in that needs no network. When we want a real model, local or Azure, we flip a setting. Everything here starts with 'docker compose up' and resets with 'docker compose down'.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exotic. That is deliberate: the interesting part of this project is the AI experiment, so the rest should be as ordinary as possible. Two things worth a sentence each. The data model is generated from the real database, so when the schema changes we regenerate instead of hand-editing. And the AI layer sits behind Microsoft's standard interface, so a model swap is a config change, not a rewrite.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where we are; right side is ready to go when there is appetite. Emphasise the middle bullet on the right: in Azure the app would point at the existing database. This project never copies production data into a new cloud database. Also worth saying: no secrets in config anywhere in the Azure path, it is all managed identity.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Two screens for the everyday work, then the two AI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Invoices screen. The point to land: it feels like a spreadsheet but the database does the heavy lifting, so it is fast even on the full data set. Deleting is a soft delete: rows are marked, never removed, and can be restored. Same pattern for bottlers, payers, sales centers, programs and currencies.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edit dialog. Four tabs: header, parties and program, submitter, revision and SAP. The dropdowns cascade so you cannot pick a payer that does not belong to the bottler. When the database says no, the user sees a sentence, not a SQL error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Set expectations: this is a first look, running against a stand-in model today, but every safety check is the real thing.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clip play once (it is about ten seconds). Narrate the four steps on the right. The honest caveat: today the model is a stand-in that understands a dozen kinds of question, which is why the suggestion chips exist. The plumbing around it, the prompt, the checks, the execution, is exactly what a real model would go through.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risk-minded. The model writes SQL; the app does not trust it. Single read-only statement, inspected, time-boxed, row-capped, and the transaction is rolled back regardless. Plus feature flags to turn it off. Mention the follow-up: a read-only database account for the AI path so the database itself is the last line of defence.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AI feature. Think of it as search that talks back. The important design choice: the model can only use what we give it and has to cite it, so the answer is checkable. Be upfront that the documents in the demo are samples we wrote; the real version would index the actual customer documents.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strategic point. We are not betting on a vendor. Today's demos run on a stand-in; a developer can point it at a local open model; the Azure path uses Azure OpenAI with our identity, no API keys. In every case the app code is identical. Note that anything other than the stand-in sends the question, our table names and document text to that model, so the choice is a data-handling decision as much as a technical 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to your database colleague here. Roughly eight minutes for the next three slides.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[Colleague] Suggested talking points: the backup is the same export Azure produces; the cleanup only removes things an on-premises SQL Server cannot have, so the schema and data are exactly production's. The restore is automatic and idempotent. Reset is a one-liner. Add colour on how long it takes and how often you have refreshed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[Colleague] High level only. Four ideas: the model is generated so it cannot drift from the real schema; connections are short so the app is polite to the server; deletes are soft so nothing is truly lost; and the AI path is read-only and rolled back. If asked about scale: filtering, sorting and paging all happen in SQL, so the app only ever pulls one page of rows.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[Colleague] The reassurance slide. Where the copy lives, what never happens (no restore to the cloud), how secrets are handled, and the two follow-ups we would want before this goes beyond the team: a read-only login for the AI path and sign-in on the app.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takes it back. Four options, in the order we would suggest. The ask is not for budget today; it is for a steer on which of these is worth a pilot. The numbered order is a real sequence: a real model and sign-in come before anyone outside the team touches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then open the floor. If time is short, the one sentence is: we can look at our data safely and ask it questions, and none of it touches production.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1.gif"/><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gif"/><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4.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a:effectLst/>
      </p:bgPr>
    </p:bg>
    <p:spTree>
      <p:nvGrpSpPr>
        <p:cNvPr id="1" name=""/>
        <p:cNvGrpSpPr/>
        <p:nvPr/>
      </p:nvGrpSpPr>
      <p:grpSpPr>
        <a:xfrm>
          <a:off x="0" y="0"/>
          <a:ext cx="0" cy="0"/>
          <a:chOff x="0" y="0"/>
          <a:chExt cx="0" cy="0"/>
        </a:xfrm>
      </p:grpSpPr>
      <p:sp>
        <p:nvSpPr>
          <p:cNvPr id="2" name="Shape 0"/>
          <p:cNvSpPr/>
          <p:nvPr/>
        </p:nvSpPr>
        <p:spPr>
          <a:xfrm>
            <a:off x="7863840" y="-2011680"/>
            <a:ext cx="6949440" cy="6949440"/>
          </a:xfrm>
          <a:prstGeom prst="ellipse">
            <a:avLst/>
          </a:prstGeom>
          <a:solidFill>
            <a:srgbClr val="1E3556"/>
          </a:solidFill>
          <a:ln w="12700">
            <a:solidFill>
              <a:srgbClr val="1E3556"/>
            </a:solidFill>
            <a:prstDash val="solid"/>
          </a:ln>
        </p:spPr>
        <p:txBody>
          <a:bodyPr/>
          <a:lstStyle/>
          <a:p>
            <a:endParaRPr lang="en-US"/>
          </a:p>
        </p:txBody>
      </p:sp>
      <p:sp>
        <p:nvSpPr>
          <p:cNvPr id="3" name="Shape 1"/>
          <p:cNvSpPr/>
          <p:nvPr/>
        </p:nvSpPr>
        <p:spPr>
          <a:xfrm>
            <a:off x="6537960" y="2148840"/>
            <a:ext cx="5120640" cy="3200400"/>
          </a:xfrm>
          <a:prstGeom prst="roundRect">
            <a:avLst>
              <a:gd name="adj" fmla="val 2286"/>
            </a:avLst>
          </a:prstGeom>
          <a:solidFill>
            <a:srgbClr val="FFFFFF"/>
          </a:solidFill>
          <a:ln w="9525">
            <a:solidFill>
              <a:srgbClr val="D9DFE7"/>
            </a:solidFill>
            <a:prstDash val="solid"/>
          </a:ln>
          <a:effectLst>
            <a:outerShdw blurRad="127000" dist="38100" dir="5400000" algn="bl" rotWithShape="0">
              <a:srgbClr val="000000">
                <a:alpha val="18000"/>
              </a:srgbClr>
            </a:outerShdw>
          </a:effectLst>
        </p:spPr>
        <p:txBody>
          <a:bodyPr/>
          <a:lstStyle/>
          <a:p>
            <a:endParaRPr lang="en-US"/>
          </a:p>
        </p:txBody>
      </p:sp>
      <p:pic>
        <p:nvPicPr>
          <p:cNvPr id="4" name="Image 0" descr="C:\Users\Kevin.Raffay\AppData\Local\Temp\claude\C--Sandbox-blazor-demo\8c585967-9a02-409f-ada6-232ab0e020b3\scratchpad\deck\shots\home.png"/>
          <p:cNvPicPr>
            <a:picLocks noChangeAspect="1"/>
          </p:cNvPicPr>
          <p:nvPr/>
        </p:nvPicPr>
        <p:blipFill>
          <a:blip r:embed="rId3"/>
          <a:stretch>
            <a:fillRect/>
          </a:stretch>
        </p:blipFill>
        <p:spPr>
          <a:xfrm>
            <a:off x="6611112" y="2221992"/>
            <a:ext cx="4974336" cy="3054096"/>
          </a:xfrm>
          <a:prstGeom prst="rect">
            <a:avLst/>
          </a:prstGeom>
        </p:spPr>
      </p:pic>
      <p:sp>
        <p:nvSpPr>
          <p:cNvPr id="5" name="Text 2"/>
          <p:cNvSpPr txBox="1"/>
          <p:nvPr/>
        </p:nvSpPr>
        <p:spPr>
          <a:xfrm>
            <a:off x="731520" y="1737360"/>
            <a:ext cx="5669280" cy="365760"/>
          </a:xfrm>
          <a:prstGeom prst="rect">
            <a:avLst/>
          </a:prstGeom>
          <a:noFill/>
          <a:ln/>
        </p:spPr>
        <p:txBody>
          <a:bodyPr wrap="square" lIns="0" tIns="0" rIns="0" bIns="0" rtlCol="0" anchor="ctr"/>
          <a:lstStyle/>
          <a:p>
            <a:pPr marL="0" indent="0">
              <a:buNone/>
            </a:pPr>
            <a:r>
              <a:rPr lang="en-US" sz="1400" b="1" kern="0" spc="400" dirty="0">
                <a:solidFill>
                  <a:srgbClr val="F0A429"/>
                </a:solidFill>
                <a:latin typeface="Calibri" pitchFamily="34" charset="0"/>
                <a:ea typeface="Calibri" pitchFamily="34" charset="-122"/>
                <a:cs typeface="Calibri" pitchFamily="34" charset="-120"/>
              </a:rPr>
              <a:t>INVOICE PORTAL ADMIN</a:t>
            </a:r>
            <a:endParaRPr lang="en-US" sz="1400" dirty="0"/>
          </a:p>
        </p:txBody>
      </p:sp>
      <p:sp>
        <p:nvSpPr>
          <p:cNvPr id="6" name="Text 3"/>
          <p:cNvSpPr txBox="1"/>
          <p:nvPr/>
        </p:nvSpPr>
        <p:spPr>
          <a:xfrm>
            <a:off x="731520" y="2103120"/>
            <a:ext cx="5760720" cy="173736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A friendlier front door</a:t>
            </a:r>
            <a:endParaRPr lang="en-US" sz="4200" dirty="0"/>
          </a:p>
          <a:p>
            <a:pPr marL="0" indent="0">
              <a:buNone/>
            </a:pPr>
            <a:r>
              <a:rPr lang="en-US" sz="4200" b="1" dirty="0">
                <a:solidFill>
                  <a:srgbClr val="FFFFFF"/>
                </a:solidFill>
                <a:latin typeface="Cambria" pitchFamily="34" charset="0"/>
                <a:ea typeface="Cambria" pitchFamily="34" charset="-122"/>
                <a:cs typeface="Cambria" pitchFamily="34" charset="-120"/>
              </a:rPr>
              <a:t>to our invoice data</a:t>
            </a:r>
            <a:endParaRPr lang="en-US" sz="4200" dirty="0"/>
          </a:p>
        </p:txBody>
      </p:sp>
      <p:sp>
        <p:nvSpPr>
          <p:cNvPr id="7" name="Text 4"/>
          <p:cNvSpPr txBox="1"/>
          <p:nvPr/>
        </p:nvSpPr>
        <p:spPr>
          <a:xfrm>
            <a:off x="731520" y="3931920"/>
            <a:ext cx="5486400" cy="822960"/>
          </a:xfrm>
          <a:prstGeom prst="rect">
            <a:avLst/>
          </a:prstGeom>
          <a:noFill/>
          <a:ln/>
        </p:spPr>
        <p:txBody>
          <a:bodyPr wrap="square" lIns="0" tIns="0" rIns="0" bIns="0" rtlCol="0" anchor="ctr"/>
          <a:lstStyle/>
          <a:p>
            <a:pPr marL="0" indent="0">
              <a:buNone/>
            </a:pPr>
            <a:r>
              <a:rPr lang="en-US" sz="1700" dirty="0">
                <a:solidFill>
                  <a:srgbClr val="C9D4E1"/>
                </a:solidFill>
                <a:latin typeface="Calibri" pitchFamily="34" charset="0"/>
                <a:ea typeface="Calibri" pitchFamily="34" charset="-122"/>
                <a:cs typeface="Calibri" pitchFamily="34" charset="-120"/>
              </a:rPr>
              <a:t>A proof of concept: modern UI, safe data access, and a first look at AI over our own numbers.</a:t>
            </a:r>
            <a:endParaRPr lang="en-US" sz="1700" dirty="0"/>
          </a:p>
        </p:txBody>
      </p:sp>
      <p:sp>
        <p:nvSpPr>
          <p:cNvPr id="8" name="Text 5"/>
          <p:cNvSpPr txBox="1"/>
          <p:nvPr/>
        </p:nvSpPr>
        <p:spPr>
          <a:xfrm>
            <a:off x="731520" y="4983480"/>
            <a:ext cx="5669280"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Kevin Raffay</a:t>
            </a:r>
            <a:r>
              <a:rPr lang="en-US" sz="1400" dirty="0">
                <a:solidFill>
                  <a:srgbClr val="8FA3BA"/>
                </a:solidFill>
                <a:latin typeface="Calibri" pitchFamily="34" charset="0"/>
                <a:ea typeface="Calibri" pitchFamily="34" charset="-122"/>
                <a:cs typeface="Calibri" pitchFamily="34" charset="-120"/>
              </a:rPr>
              <a:t>   architecture, UI and AI</a:t>
            </a:r>
            <a:endParaRPr lang="en-US" sz="1400" dirty="0"/>
          </a:p>
        </p:txBody>
      </p:sp>
      <p:sp>
        <p:nvSpPr>
          <p:cNvPr id="10" name="Text 7"/>
          <p:cNvSpPr txBox="1"/>
          <p:nvPr/>
        </p:nvSpPr>
        <p:spPr>
          <a:xfrm>
            <a:off x="731520" y="5943600"/>
            <a:ext cx="5486400" cy="274320"/>
          </a:xfrm>
          <a:prstGeom prst="rect">
            <a:avLst/>
          </a:prstGeom>
          <a:noFill/>
          <a:ln/>
        </p:spPr>
        <p:txBody>
          <a:bodyPr wrap="square" lIns="0" tIns="0" rIns="0" bIns="0" rtlCol="0" anchor="ctr"/>
          <a:lstStyle/>
          <a:p>
            <a:pPr marL="0" indent="0">
              <a:buNone/>
            </a:pPr>
            <a:r>
              <a:rPr lang="en-US" sz="1100" dirty="0">
                <a:solidFill>
                  <a:srgbClr val="8FA3BA"/>
                </a:solidFill>
                <a:latin typeface="Calibri" pitchFamily="34" charset="0"/>
                <a:ea typeface="Calibri" pitchFamily="34" charset="-122"/>
                <a:cs typeface="Calibri" pitchFamily="34" charset="-120"/>
              </a:rPr>
              <a:t>IT leadership briefing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The next 30 minutes</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Three short chapters, then your questions.</a:t>
            </a:r>
            <a:endParaRPr lang="en-US" sz="1600" dirty="0"/>
          </a:p>
        </p:txBody>
      </p:sp>
      <p:sp>
        <p:nvSpPr>
          <p:cNvPr id="4" name="Shape 2"/>
          <p:cNvSpPr/>
          <p:nvPr/>
        </p:nvSpPr>
        <p:spPr>
          <a:xfrm>
            <a:off x="548640" y="2011680"/>
            <a:ext cx="3566160" cy="3108960"/>
          </a:xfrm>
          <a:prstGeom prst="roundRect">
            <a:avLst>
              <a:gd name="adj" fmla="val 2941"/>
            </a:avLst>
          </a:prstGeom>
          <a:solidFill>
            <a:srgbClr val="F3F5F8"/>
          </a:solidFill>
          <a:ln w="12700">
            <a:solidFill>
              <a:srgbClr val="F3F5F8"/>
            </a:solidFill>
            <a:prstDash val="solid"/>
          </a:ln>
        </p:spPr>
        <p:txBody>
          <a:bodyPr/>
          <a:lstStyle/>
          <a:p>
            <a:endParaRPr lang="en-US"/>
          </a:p>
        </p:txBody>
      </p:sp>
      <p:sp>
        <p:nvSpPr>
          <p:cNvPr id="5" name="Shape 3"/>
          <p:cNvSpPr/>
          <p:nvPr/>
        </p:nvSpPr>
        <p:spPr>
          <a:xfrm>
            <a:off x="822960" y="228600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3778" y="2426818"/>
            <a:ext cx="358445" cy="358445"/>
          </a:xfrm>
          <a:prstGeom prst="rect">
            <a:avLst/>
          </a:prstGeom>
        </p:spPr>
      </p:pic>
      <p:sp>
        <p:nvSpPr>
          <p:cNvPr id="7" name="Text 4"/>
          <p:cNvSpPr txBox="1"/>
          <p:nvPr/>
        </p:nvSpPr>
        <p:spPr>
          <a:xfrm>
            <a:off x="822960" y="306324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The big picture</a:t>
            </a:r>
            <a:endParaRPr lang="en-US" sz="1700" dirty="0"/>
          </a:p>
        </p:txBody>
      </p:sp>
      <p:sp>
        <p:nvSpPr>
          <p:cNvPr id="8" name="Text 5"/>
          <p:cNvSpPr txBox="1"/>
          <p:nvPr/>
        </p:nvSpPr>
        <p:spPr>
          <a:xfrm>
            <a:off x="822960" y="3474720"/>
            <a:ext cx="3017520" cy="146304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What we built, why, and what it runs on.</a:t>
            </a:r>
            <a:endParaRPr lang="en-US" sz="1350" dirty="0"/>
          </a:p>
        </p:txBody>
      </p:sp>
      <p:sp>
        <p:nvSpPr>
          <p:cNvPr id="9" name="Text 6"/>
          <p:cNvSpPr txBox="1"/>
          <p:nvPr/>
        </p:nvSpPr>
        <p:spPr>
          <a:xfrm>
            <a:off x="822960" y="4526280"/>
            <a:ext cx="3017520" cy="320040"/>
          </a:xfrm>
          <a:prstGeom prst="rect">
            <a:avLst/>
          </a:prstGeom>
          <a:noFill/>
          <a:ln/>
        </p:spPr>
        <p:txBody>
          <a:bodyPr wrap="square" lIns="0" tIns="0" rIns="0" bIns="0" rtlCol="0" anchor="ctr"/>
          <a:lstStyle/>
          <a:p>
            <a:pPr marL="0" indent="0">
              <a:buNone/>
            </a:pPr>
            <a:r>
              <a:rPr lang="en-US" sz="1250" b="1" dirty="0">
                <a:solidFill>
                  <a:srgbClr val="C77F12"/>
                </a:solidFill>
                <a:latin typeface="Calibri" pitchFamily="34" charset="0"/>
                <a:ea typeface="Calibri" pitchFamily="34" charset="-122"/>
                <a:cs typeface="Calibri" pitchFamily="34" charset="-120"/>
              </a:rPr>
              <a:t>Kevin · 8 min</a:t>
            </a:r>
            <a:endParaRPr lang="en-US" sz="1250" dirty="0"/>
          </a:p>
        </p:txBody>
      </p:sp>
      <p:sp>
        <p:nvSpPr>
          <p:cNvPr id="10" name="Shape 7"/>
          <p:cNvSpPr/>
          <p:nvPr/>
        </p:nvSpPr>
        <p:spPr>
          <a:xfrm>
            <a:off x="4315968" y="2011680"/>
            <a:ext cx="3566160" cy="3108960"/>
          </a:xfrm>
          <a:prstGeom prst="roundRect">
            <a:avLst>
              <a:gd name="adj" fmla="val 2941"/>
            </a:avLst>
          </a:prstGeom>
          <a:solidFill>
            <a:srgbClr val="F3F5F8"/>
          </a:solidFill>
          <a:ln w="12700">
            <a:solidFill>
              <a:srgbClr val="F3F5F8"/>
            </a:solidFill>
            <a:prstDash val="solid"/>
          </a:ln>
        </p:spPr>
        <p:txBody>
          <a:bodyPr/>
          <a:lstStyle/>
          <a:p>
            <a:endParaRPr lang="en-US"/>
          </a:p>
        </p:txBody>
      </p:sp>
      <p:sp>
        <p:nvSpPr>
          <p:cNvPr id="11" name="Shape 8"/>
          <p:cNvSpPr/>
          <p:nvPr/>
        </p:nvSpPr>
        <p:spPr>
          <a:xfrm>
            <a:off x="4590288" y="228600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731106" y="2426818"/>
            <a:ext cx="358445" cy="358445"/>
          </a:xfrm>
          <a:prstGeom prst="rect">
            <a:avLst/>
          </a:prstGeom>
        </p:spPr>
      </p:pic>
      <p:sp>
        <p:nvSpPr>
          <p:cNvPr id="13" name="Text 9"/>
          <p:cNvSpPr txBox="1"/>
          <p:nvPr/>
        </p:nvSpPr>
        <p:spPr>
          <a:xfrm>
            <a:off x="4590288" y="306324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UI and AI in action</a:t>
            </a:r>
            <a:endParaRPr lang="en-US" sz="1700" dirty="0"/>
          </a:p>
        </p:txBody>
      </p:sp>
      <p:sp>
        <p:nvSpPr>
          <p:cNvPr id="14" name="Text 10"/>
          <p:cNvSpPr txBox="1"/>
          <p:nvPr/>
        </p:nvSpPr>
        <p:spPr>
          <a:xfrm>
            <a:off x="4590288" y="3474720"/>
            <a:ext cx="3017520" cy="146304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A tour of the screens and the two AI features.</a:t>
            </a:r>
            <a:endParaRPr lang="en-US" sz="1350" dirty="0"/>
          </a:p>
        </p:txBody>
      </p:sp>
      <p:sp>
        <p:nvSpPr>
          <p:cNvPr id="15" name="Text 11"/>
          <p:cNvSpPr txBox="1"/>
          <p:nvPr/>
        </p:nvSpPr>
        <p:spPr>
          <a:xfrm>
            <a:off x="4590288" y="4526280"/>
            <a:ext cx="3017520" cy="320040"/>
          </a:xfrm>
          <a:prstGeom prst="rect">
            <a:avLst/>
          </a:prstGeom>
          <a:noFill/>
          <a:ln/>
        </p:spPr>
        <p:txBody>
          <a:bodyPr wrap="square" lIns="0" tIns="0" rIns="0" bIns="0" rtlCol="0" anchor="ctr"/>
          <a:lstStyle/>
          <a:p>
            <a:pPr marL="0" indent="0">
              <a:buNone/>
            </a:pPr>
            <a:r>
              <a:rPr lang="en-US" sz="1250" b="1" dirty="0">
                <a:solidFill>
                  <a:srgbClr val="C77F12"/>
                </a:solidFill>
                <a:latin typeface="Calibri" pitchFamily="34" charset="0"/>
                <a:ea typeface="Calibri" pitchFamily="34" charset="-122"/>
                <a:cs typeface="Calibri" pitchFamily="34" charset="-120"/>
              </a:rPr>
              <a:t>Kevin · 12 min</a:t>
            </a:r>
            <a:endParaRPr lang="en-US" sz="1250" dirty="0"/>
          </a:p>
        </p:txBody>
      </p:sp>
      <p:sp>
        <p:nvSpPr>
          <p:cNvPr id="16" name="Shape 12"/>
          <p:cNvSpPr/>
          <p:nvPr/>
        </p:nvSpPr>
        <p:spPr>
          <a:xfrm>
            <a:off x="8083296" y="2011680"/>
            <a:ext cx="3566160" cy="3108960"/>
          </a:xfrm>
          <a:prstGeom prst="roundRect">
            <a:avLst>
              <a:gd name="adj" fmla="val 2941"/>
            </a:avLst>
          </a:prstGeom>
          <a:solidFill>
            <a:srgbClr val="F3F5F8"/>
          </a:solidFill>
          <a:ln w="12700">
            <a:solidFill>
              <a:srgbClr val="F3F5F8"/>
            </a:solidFill>
            <a:prstDash val="solid"/>
          </a:ln>
        </p:spPr>
        <p:txBody>
          <a:bodyPr/>
          <a:lstStyle/>
          <a:p>
            <a:endParaRPr lang="en-US"/>
          </a:p>
        </p:txBody>
      </p:sp>
      <p:sp>
        <p:nvSpPr>
          <p:cNvPr id="17" name="Shape 13"/>
          <p:cNvSpPr/>
          <p:nvPr/>
        </p:nvSpPr>
        <p:spPr>
          <a:xfrm>
            <a:off x="8357616" y="228600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98434" y="2426818"/>
            <a:ext cx="358445" cy="358445"/>
          </a:xfrm>
          <a:prstGeom prst="rect">
            <a:avLst/>
          </a:prstGeom>
        </p:spPr>
      </p:pic>
      <p:sp>
        <p:nvSpPr>
          <p:cNvPr id="19" name="Text 14"/>
          <p:cNvSpPr txBox="1"/>
          <p:nvPr/>
        </p:nvSpPr>
        <p:spPr>
          <a:xfrm>
            <a:off x="8357616" y="306324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The data side</a:t>
            </a:r>
            <a:endParaRPr lang="en-US" sz="1700" dirty="0"/>
          </a:p>
        </p:txBody>
      </p:sp>
      <p:sp>
        <p:nvSpPr>
          <p:cNvPr id="20" name="Text 15"/>
          <p:cNvSpPr txBox="1"/>
          <p:nvPr/>
        </p:nvSpPr>
        <p:spPr>
          <a:xfrm>
            <a:off x="8357616" y="3474720"/>
            <a:ext cx="3017520" cy="146304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Where the data comes from and how we keep it safe.</a:t>
            </a:r>
            <a:endParaRPr lang="en-US" sz="1350" dirty="0"/>
          </a:p>
        </p:txBody>
      </p:sp>
      <p:sp>
        <p:nvSpPr>
          <p:cNvPr id="21" name="Text 16"/>
          <p:cNvSpPr txBox="1"/>
          <p:nvPr/>
        </p:nvSpPr>
        <p:spPr>
          <a:xfrm>
            <a:off x="8357616" y="4526280"/>
            <a:ext cx="3017520" cy="320040"/>
          </a:xfrm>
          <a:prstGeom prst="rect">
            <a:avLst/>
          </a:prstGeom>
          <a:noFill/>
          <a:ln/>
        </p:spPr>
        <p:txBody>
          <a:bodyPr wrap="square" lIns="0" tIns="0" rIns="0" bIns="0" rtlCol="0" anchor="ctr"/>
          <a:lstStyle/>
          <a:p>
            <a:pPr marL="0" indent="0">
              <a:buNone/>
            </a:pPr>
            <a:r>
              <a:rPr lang="en-US" sz="1250" b="1" dirty="0">
                <a:solidFill>
                  <a:srgbClr val="C77F12"/>
                </a:solidFill>
                <a:latin typeface="Calibri" pitchFamily="34" charset="0"/>
                <a:ea typeface="Calibri" pitchFamily="34" charset="-122"/>
                <a:cs typeface="Calibri" pitchFamily="34" charset="-120"/>
              </a:rPr>
              <a:t>[Colleague] · 8 min</a:t>
            </a:r>
            <a:endParaRPr lang="en-US" sz="1250" dirty="0"/>
          </a:p>
        </p:txBody>
      </p:sp>
      <p:sp>
        <p:nvSpPr>
          <p:cNvPr id="22" name="Text 17"/>
          <p:cNvSpPr txBox="1"/>
          <p:nvPr/>
        </p:nvSpPr>
        <p:spPr>
          <a:xfrm>
            <a:off x="548640" y="5440680"/>
            <a:ext cx="7315200" cy="365760"/>
          </a:xfrm>
          <a:prstGeom prst="rect">
            <a:avLst/>
          </a:prstGeom>
          <a:noFill/>
          <a:ln/>
        </p:spPr>
        <p:txBody>
          <a:bodyPr wrap="square" lIns="0" tIns="0" rIns="0" bIns="0" rtlCol="0" anchor="ctr"/>
          <a:lstStyle/>
          <a:p>
            <a:pPr marL="0" indent="0">
              <a:buNone/>
            </a:pPr>
            <a:r>
              <a:rPr lang="en-US" sz="1400" i="1" dirty="0">
                <a:solidFill>
                  <a:srgbClr val="6C7A8A"/>
                </a:solidFill>
                <a:latin typeface="Calibri" pitchFamily="34" charset="0"/>
                <a:ea typeface="Calibri" pitchFamily="34" charset="-122"/>
                <a:cs typeface="Calibri" pitchFamily="34" charset="-120"/>
              </a:rPr>
              <a:t>Then: questions and what's next  ·  2 min</a:t>
            </a:r>
            <a:endParaRPr lang="en-US" sz="1400" dirty="0"/>
          </a:p>
        </p:txBody>
      </p:sp>
      <p:sp>
        <p:nvSpPr>
          <p:cNvPr id="23" name="Text 18"/>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Why we built it</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Three itches, one small app.</a:t>
            </a:r>
            <a:endParaRPr lang="en-US" sz="1600" dirty="0"/>
          </a:p>
        </p:txBody>
      </p:sp>
      <p:sp>
        <p:nvSpPr>
          <p:cNvPr id="4" name="Shape 2"/>
          <p:cNvSpPr/>
          <p:nvPr/>
        </p:nvSpPr>
        <p:spPr>
          <a:xfrm>
            <a:off x="548640" y="196596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73364" y="2090684"/>
            <a:ext cx="317480" cy="317480"/>
          </a:xfrm>
          <a:prstGeom prst="rect">
            <a:avLst/>
          </a:prstGeom>
        </p:spPr>
      </p:pic>
      <p:sp>
        <p:nvSpPr>
          <p:cNvPr id="6" name="Text 3"/>
          <p:cNvSpPr txBox="1"/>
          <p:nvPr/>
        </p:nvSpPr>
        <p:spPr>
          <a:xfrm>
            <a:off x="1298448" y="1929384"/>
            <a:ext cx="4736592" cy="329184"/>
          </a:xfrm>
          <a:prstGeom prst="rect">
            <a:avLst/>
          </a:prstGeom>
          <a:noFill/>
          <a:ln/>
        </p:spPr>
        <p:txBody>
          <a:bodyPr wrap="square" lIns="0" tIns="0" rIns="0" bIns="0" rtlCol="0" anchor="t"/>
          <a:lstStyle/>
          <a:p>
            <a:pPr marL="0" indent="0">
              <a:buNone/>
            </a:pPr>
            <a:r>
              <a:rPr lang="en-US" sz="1600" b="1" dirty="0">
                <a:solidFill>
                  <a:srgbClr val="1B2430"/>
                </a:solidFill>
                <a:latin typeface="Calibri" pitchFamily="34" charset="0"/>
                <a:ea typeface="Calibri" pitchFamily="34" charset="-122"/>
                <a:cs typeface="Calibri" pitchFamily="34" charset="-120"/>
              </a:rPr>
              <a:t>Ops needs to see and fix records</a:t>
            </a:r>
            <a:endParaRPr lang="en-US" sz="1600" dirty="0"/>
          </a:p>
        </p:txBody>
      </p:sp>
      <p:sp>
        <p:nvSpPr>
          <p:cNvPr id="7" name="Text 4"/>
          <p:cNvSpPr txBox="1"/>
          <p:nvPr/>
        </p:nvSpPr>
        <p:spPr>
          <a:xfrm>
            <a:off x="1298448" y="2240280"/>
            <a:ext cx="4736592" cy="82296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Invoices, bottlers, payers, programs. Today that means SQL scripts or waiting on a developer.</a:t>
            </a:r>
            <a:endParaRPr lang="en-US" sz="1300" dirty="0"/>
          </a:p>
        </p:txBody>
      </p:sp>
      <p:sp>
        <p:nvSpPr>
          <p:cNvPr id="8" name="Shape 5"/>
          <p:cNvSpPr/>
          <p:nvPr/>
        </p:nvSpPr>
        <p:spPr>
          <a:xfrm>
            <a:off x="548640" y="32918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673364" y="3416564"/>
            <a:ext cx="317480" cy="317480"/>
          </a:xfrm>
          <a:prstGeom prst="rect">
            <a:avLst/>
          </a:prstGeom>
        </p:spPr>
      </p:pic>
      <p:sp>
        <p:nvSpPr>
          <p:cNvPr id="10" name="Text 6"/>
          <p:cNvSpPr txBox="1"/>
          <p:nvPr/>
        </p:nvSpPr>
        <p:spPr>
          <a:xfrm>
            <a:off x="1298448" y="3255264"/>
            <a:ext cx="4736592" cy="329184"/>
          </a:xfrm>
          <a:prstGeom prst="rect">
            <a:avLst/>
          </a:prstGeom>
          <a:noFill/>
          <a:ln/>
        </p:spPr>
        <p:txBody>
          <a:bodyPr wrap="square" lIns="0" tIns="0" rIns="0" bIns="0" rtlCol="0" anchor="t"/>
          <a:lstStyle/>
          <a:p>
            <a:pPr marL="0" indent="0">
              <a:buNone/>
            </a:pPr>
            <a:r>
              <a:rPr lang="en-US" sz="1600" b="1" dirty="0">
                <a:solidFill>
                  <a:srgbClr val="1B2430"/>
                </a:solidFill>
                <a:latin typeface="Calibri" pitchFamily="34" charset="0"/>
                <a:ea typeface="Calibri" pitchFamily="34" charset="-122"/>
                <a:cs typeface="Calibri" pitchFamily="34" charset="-120"/>
              </a:rPr>
              <a:t>Without touching production</a:t>
            </a:r>
            <a:endParaRPr lang="en-US" sz="1600" dirty="0"/>
          </a:p>
        </p:txBody>
      </p:sp>
      <p:sp>
        <p:nvSpPr>
          <p:cNvPr id="11" name="Text 7"/>
          <p:cNvSpPr txBox="1"/>
          <p:nvPr/>
        </p:nvSpPr>
        <p:spPr>
          <a:xfrm>
            <a:off x="1298448" y="3566160"/>
            <a:ext cx="4736592" cy="82296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A full copy of the real data, running on one laptop or one container host. Break it, reset it, no harm done.</a:t>
            </a:r>
            <a:endParaRPr lang="en-US" sz="1300" dirty="0"/>
          </a:p>
        </p:txBody>
      </p:sp>
      <p:sp>
        <p:nvSpPr>
          <p:cNvPr id="12" name="Shape 8"/>
          <p:cNvSpPr/>
          <p:nvPr/>
        </p:nvSpPr>
        <p:spPr>
          <a:xfrm>
            <a:off x="548640" y="461772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673364" y="4742444"/>
            <a:ext cx="317480" cy="317480"/>
          </a:xfrm>
          <a:prstGeom prst="rect">
            <a:avLst/>
          </a:prstGeom>
        </p:spPr>
      </p:pic>
      <p:sp>
        <p:nvSpPr>
          <p:cNvPr id="14" name="Text 9"/>
          <p:cNvSpPr txBox="1"/>
          <p:nvPr/>
        </p:nvSpPr>
        <p:spPr>
          <a:xfrm>
            <a:off x="1298448" y="4581144"/>
            <a:ext cx="4736592" cy="329184"/>
          </a:xfrm>
          <a:prstGeom prst="rect">
            <a:avLst/>
          </a:prstGeom>
          <a:noFill/>
          <a:ln/>
        </p:spPr>
        <p:txBody>
          <a:bodyPr wrap="square" lIns="0" tIns="0" rIns="0" bIns="0" rtlCol="0" anchor="t"/>
          <a:lstStyle/>
          <a:p>
            <a:pPr marL="0" indent="0">
              <a:buNone/>
            </a:pPr>
            <a:r>
              <a:rPr lang="en-US" sz="1600" b="1" dirty="0">
                <a:solidFill>
                  <a:srgbClr val="1B2430"/>
                </a:solidFill>
                <a:latin typeface="Calibri" pitchFamily="34" charset="0"/>
                <a:ea typeface="Calibri" pitchFamily="34" charset="-122"/>
                <a:cs typeface="Calibri" pitchFamily="34" charset="-120"/>
              </a:rPr>
              <a:t>And a cheap way to try AI</a:t>
            </a:r>
            <a:endParaRPr lang="en-US" sz="1600" dirty="0"/>
          </a:p>
        </p:txBody>
      </p:sp>
      <p:sp>
        <p:nvSpPr>
          <p:cNvPr id="15" name="Text 10"/>
          <p:cNvSpPr txBox="1"/>
          <p:nvPr/>
        </p:nvSpPr>
        <p:spPr>
          <a:xfrm>
            <a:off x="1298448" y="4892040"/>
            <a:ext cx="4736592" cy="82296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Same real data, same screens. Ask questions in plain English and see what happens, with guardrails on.</a:t>
            </a:r>
            <a:endParaRPr lang="en-US" sz="1300" dirty="0"/>
          </a:p>
        </p:txBody>
      </p:sp>
      <p:sp>
        <p:nvSpPr>
          <p:cNvPr id="16" name="Shape 11"/>
          <p:cNvSpPr/>
          <p:nvPr/>
        </p:nvSpPr>
        <p:spPr>
          <a:xfrm>
            <a:off x="6492240" y="2011680"/>
            <a:ext cx="5120640" cy="3200400"/>
          </a:xfrm>
          <a:prstGeom prst="roundRect">
            <a:avLst>
              <a:gd name="adj" fmla="val 2286"/>
            </a:avLst>
          </a:prstGeom>
          <a:solidFill>
            <a:srgbClr val="FFFFFF"/>
          </a:solidFill>
          <a:ln w="9525">
            <a:solidFill>
              <a:srgbClr val="D9DFE7"/>
            </a:solidFill>
            <a:prstDash val="solid"/>
          </a:ln>
          <a:effectLst>
            <a:outerShdw blurRad="127000" dist="38100" dir="5400000" algn="bl" rotWithShape="0">
              <a:srgbClr val="000000">
                <a:alpha val="18000"/>
              </a:srgbClr>
            </a:outerShdw>
          </a:effectLst>
        </p:spPr>
        <p:txBody>
          <a:bodyPr/>
          <a:lstStyle/>
          <a:p>
            <a:endParaRPr lang="en-US"/>
          </a:p>
        </p:txBody>
      </p:sp>
      <p:pic>
        <p:nvPicPr>
          <p:cNvPr id="17" name="Image 3" descr="C:\Users\Kevin.Raffay\AppData\Local\Temp\claude\C--Sandbox-blazor-demo\8c585967-9a02-409f-ada6-232ab0e020b3\scratchpad\deck\shots\home.png"/>
          <p:cNvPicPr>
            <a:picLocks noChangeAspect="1"/>
          </p:cNvPicPr>
          <p:nvPr/>
        </p:nvPicPr>
        <p:blipFill>
          <a:blip r:embed="rId6"/>
          <a:stretch>
            <a:fillRect/>
          </a:stretch>
        </p:blipFill>
        <p:spPr>
          <a:xfrm>
            <a:off x="6565392" y="2084832"/>
            <a:ext cx="4974336" cy="3054096"/>
          </a:xfrm>
          <a:prstGeom prst="rect">
            <a:avLst/>
          </a:prstGeom>
        </p:spPr>
      </p:pic>
      <p:sp>
        <p:nvSpPr>
          <p:cNvPr id="18" name="Text 12"/>
          <p:cNvSpPr txBox="1"/>
          <p:nvPr/>
        </p:nvSpPr>
        <p:spPr>
          <a:xfrm>
            <a:off x="6492240" y="5349240"/>
            <a:ext cx="5120640" cy="457200"/>
          </a:xfrm>
          <a:prstGeom prst="rect">
            <a:avLst/>
          </a:prstGeom>
          <a:noFill/>
          <a:ln/>
        </p:spPr>
        <p:txBody>
          <a:bodyPr wrap="square" lIns="0" tIns="0" rIns="0" bIns="0" rtlCol="0" anchor="ctr"/>
          <a:lstStyle/>
          <a:p>
            <a:pPr marL="0" indent="0" algn="ctr">
              <a:buNone/>
            </a:pPr>
            <a:r>
              <a:rPr lang="en-US" sz="1200" i="1" dirty="0">
                <a:solidFill>
                  <a:srgbClr val="6C7A8A"/>
                </a:solidFill>
                <a:latin typeface="Calibri" pitchFamily="34" charset="0"/>
                <a:ea typeface="Calibri" pitchFamily="34" charset="-122"/>
                <a:cs typeface="Calibri" pitchFamily="34" charset="-120"/>
              </a:rPr>
              <a:t>38,592 invoices, 459 bottlers, 447 payers: the real shape of the data, locally.</a:t>
            </a:r>
            <a:endParaRPr lang="en-US" sz="1200" dirty="0"/>
          </a:p>
        </p:txBody>
      </p:sp>
      <p:sp>
        <p:nvSpPr>
          <p:cNvPr id="19" name="Text 1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The big picture</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Everything runs in a handful of containers on one machine. No cloud required.</a:t>
            </a:r>
            <a:endParaRPr lang="en-US" sz="1600" dirty="0"/>
          </a:p>
        </p:txBody>
      </p:sp>
      <p:sp>
        <p:nvSpPr>
          <p:cNvPr id="4" name="Shape 2"/>
          <p:cNvSpPr/>
          <p:nvPr/>
        </p:nvSpPr>
        <p:spPr>
          <a:xfrm>
            <a:off x="3246120" y="1965960"/>
            <a:ext cx="8412480" cy="3291840"/>
          </a:xfrm>
          <a:prstGeom prst="roundRect">
            <a:avLst>
              <a:gd name="adj" fmla="val 3333"/>
            </a:avLst>
          </a:prstGeom>
          <a:solidFill>
            <a:srgbClr val="F3F5F8"/>
          </a:solidFill>
          <a:ln w="12700">
            <a:solidFill>
              <a:srgbClr val="F3F5F8"/>
            </a:solidFill>
            <a:prstDash val="solid"/>
          </a:ln>
        </p:spPr>
        <p:txBody>
          <a:bodyPr/>
          <a:lstStyle/>
          <a:p>
            <a:endParaRPr lang="en-US"/>
          </a:p>
        </p:txBody>
      </p:sp>
      <p:sp>
        <p:nvSpPr>
          <p:cNvPr id="5" name="Text 3"/>
          <p:cNvSpPr txBox="1"/>
          <p:nvPr/>
        </p:nvSpPr>
        <p:spPr>
          <a:xfrm>
            <a:off x="3474720" y="2057400"/>
            <a:ext cx="4572000" cy="274320"/>
          </a:xfrm>
          <a:prstGeom prst="rect">
            <a:avLst/>
          </a:prstGeom>
          <a:noFill/>
          <a:ln/>
        </p:spPr>
        <p:txBody>
          <a:bodyPr wrap="square" lIns="0" tIns="0" rIns="0" bIns="0" rtlCol="0" anchor="ctr"/>
          <a:lstStyle/>
          <a:p>
            <a:pPr marL="0" indent="0">
              <a:buNone/>
            </a:pPr>
            <a:r>
              <a:rPr lang="en-US" sz="1150" b="1" kern="0" spc="200" dirty="0">
                <a:solidFill>
                  <a:srgbClr val="6C7A8A"/>
                </a:solidFill>
                <a:latin typeface="Calibri" pitchFamily="34" charset="0"/>
                <a:ea typeface="Calibri" pitchFamily="34" charset="-122"/>
                <a:cs typeface="Calibri" pitchFamily="34" charset="-120"/>
              </a:rPr>
              <a:t>Docker Compose (one host)</a:t>
            </a:r>
            <a:endParaRPr lang="en-US" sz="1150" dirty="0"/>
          </a:p>
        </p:txBody>
      </p:sp>
      <p:sp>
        <p:nvSpPr>
          <p:cNvPr id="6" name="Shape 4"/>
          <p:cNvSpPr/>
          <p:nvPr/>
        </p:nvSpPr>
        <p:spPr>
          <a:xfrm>
            <a:off x="548640" y="2788920"/>
            <a:ext cx="2103120" cy="1051560"/>
          </a:xfrm>
          <a:prstGeom prst="roundRect">
            <a:avLst>
              <a:gd name="adj" fmla="val 8696"/>
            </a:avLst>
          </a:prstGeom>
          <a:solidFill>
            <a:srgbClr val="FFFFFF"/>
          </a:solidFill>
          <a:ln w="12700">
            <a:solidFill>
              <a:srgbClr val="D9DFE7"/>
            </a:solidFill>
            <a:prstDash val="solid"/>
          </a:ln>
          <a:effectLst>
            <a:outerShdw blurRad="127000" dist="38100" dir="5400000" algn="bl" rotWithShape="0">
              <a:srgbClr val="000000">
                <a:alpha val="18000"/>
              </a:srgbClr>
            </a:outerShdw>
          </a:effectLst>
        </p:spPr>
        <p:txBody>
          <a:bodyPr/>
          <a:lstStyle/>
          <a:p>
            <a:endParaRPr lang="en-US"/>
          </a:p>
        </p:txBody>
      </p:sp>
      <p:sp>
        <p:nvSpPr>
          <p:cNvPr id="7" name="Text 5"/>
          <p:cNvSpPr txBox="1"/>
          <p:nvPr/>
        </p:nvSpPr>
        <p:spPr>
          <a:xfrm>
            <a:off x="685800" y="2898648"/>
            <a:ext cx="1828800" cy="365760"/>
          </a:xfrm>
          <a:prstGeom prst="rect">
            <a:avLst/>
          </a:prstGeom>
          <a:noFill/>
          <a:ln/>
        </p:spPr>
        <p:txBody>
          <a:bodyPr wrap="square" lIns="0" tIns="0" rIns="0" bIns="0" rtlCol="0" anchor="ctr"/>
          <a:lstStyle/>
          <a:p>
            <a:pPr marL="0" indent="0" algn="ctr">
              <a:buNone/>
            </a:pPr>
            <a:r>
              <a:rPr lang="en-US" sz="1500" b="1" dirty="0">
                <a:solidFill>
                  <a:srgbClr val="1B2430"/>
                </a:solidFill>
                <a:latin typeface="Calibri" pitchFamily="34" charset="0"/>
                <a:ea typeface="Calibri" pitchFamily="34" charset="-122"/>
                <a:cs typeface="Calibri" pitchFamily="34" charset="-120"/>
              </a:rPr>
              <a:t>Browser</a:t>
            </a:r>
            <a:endParaRPr lang="en-US" sz="1500" dirty="0"/>
          </a:p>
        </p:txBody>
      </p:sp>
      <p:sp>
        <p:nvSpPr>
          <p:cNvPr id="8" name="Text 6"/>
          <p:cNvSpPr txBox="1"/>
          <p:nvPr/>
        </p:nvSpPr>
        <p:spPr>
          <a:xfrm>
            <a:off x="685800" y="3246120"/>
            <a:ext cx="1828800" cy="502920"/>
          </a:xfrm>
          <a:prstGeom prst="rect">
            <a:avLst/>
          </a:prstGeom>
          <a:noFill/>
          <a:ln/>
        </p:spPr>
        <p:txBody>
          <a:bodyPr wrap="square" lIns="0" tIns="0" rIns="0" bIns="0" rtlCol="0" anchor="t"/>
          <a:lstStyle/>
          <a:p>
            <a:pPr marL="0" indent="0" algn="ctr">
              <a:buNone/>
            </a:pPr>
            <a:r>
              <a:rPr lang="en-US" sz="1150" dirty="0">
                <a:solidFill>
                  <a:srgbClr val="6C7A8A"/>
                </a:solidFill>
                <a:latin typeface="Calibri" pitchFamily="34" charset="0"/>
                <a:ea typeface="Calibri" pitchFamily="34" charset="-122"/>
                <a:cs typeface="Calibri" pitchFamily="34" charset="-120"/>
              </a:rPr>
              <a:t>Ops user, any modern browser</a:t>
            </a:r>
            <a:endParaRPr lang="en-US" sz="1150" dirty="0"/>
          </a:p>
        </p:txBody>
      </p:sp>
      <p:sp>
        <p:nvSpPr>
          <p:cNvPr id="9" name="Shape 7"/>
          <p:cNvSpPr/>
          <p:nvPr/>
        </p:nvSpPr>
        <p:spPr>
          <a:xfrm>
            <a:off x="2743200" y="3182112"/>
            <a:ext cx="411480" cy="274320"/>
          </a:xfrm>
          <a:prstGeom prst="rightArrow">
            <a:avLst/>
          </a:prstGeom>
          <a:solidFill>
            <a:srgbClr val="6C7A8A"/>
          </a:solidFill>
          <a:ln w="12700">
            <a:solidFill>
              <a:srgbClr val="6C7A8A"/>
            </a:solidFill>
            <a:prstDash val="solid"/>
          </a:ln>
        </p:spPr>
        <p:txBody>
          <a:bodyPr/>
          <a:lstStyle/>
          <a:p>
            <a:endParaRPr lang="en-US"/>
          </a:p>
        </p:txBody>
      </p:sp>
      <p:sp>
        <p:nvSpPr>
          <p:cNvPr id="10" name="Shape 8"/>
          <p:cNvSpPr/>
          <p:nvPr/>
        </p:nvSpPr>
        <p:spPr>
          <a:xfrm>
            <a:off x="3291840" y="2606040"/>
            <a:ext cx="2743200" cy="1417320"/>
          </a:xfrm>
          <a:prstGeom prst="roundRect">
            <a:avLst>
              <a:gd name="adj" fmla="val 6452"/>
            </a:avLst>
          </a:prstGeom>
          <a:solidFill>
            <a:srgbClr val="13233A"/>
          </a:solidFill>
          <a:ln w="12700">
            <a:solidFill>
              <a:srgbClr val="13233A"/>
            </a:solidFill>
            <a:prstDash val="solid"/>
          </a:ln>
          <a:effectLst>
            <a:outerShdw blurRad="127000" dist="38100" dir="5400000" algn="bl" rotWithShape="0">
              <a:srgbClr val="000000">
                <a:alpha val="18000"/>
              </a:srgbClr>
            </a:outerShdw>
          </a:effectLst>
        </p:spPr>
        <p:txBody>
          <a:bodyPr/>
          <a:lstStyle/>
          <a:p>
            <a:endParaRPr lang="en-US"/>
          </a:p>
        </p:txBody>
      </p:sp>
      <p:sp>
        <p:nvSpPr>
          <p:cNvPr id="11" name="Text 9"/>
          <p:cNvSpPr txBox="1"/>
          <p:nvPr/>
        </p:nvSpPr>
        <p:spPr>
          <a:xfrm>
            <a:off x="3429000" y="2715768"/>
            <a:ext cx="246888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Web app</a:t>
            </a:r>
            <a:endParaRPr lang="en-US" sz="1500" dirty="0"/>
          </a:p>
        </p:txBody>
      </p:sp>
      <p:sp>
        <p:nvSpPr>
          <p:cNvPr id="12" name="Text 10"/>
          <p:cNvSpPr txBox="1"/>
          <p:nvPr/>
        </p:nvSpPr>
        <p:spPr>
          <a:xfrm>
            <a:off x="3429000" y="3063240"/>
            <a:ext cx="2468880" cy="868680"/>
          </a:xfrm>
          <a:prstGeom prst="rect">
            <a:avLst/>
          </a:prstGeom>
          <a:noFill/>
          <a:ln/>
        </p:spPr>
        <p:txBody>
          <a:bodyPr wrap="square" lIns="0" tIns="0" rIns="0" bIns="0" rtlCol="0" anchor="t"/>
          <a:lstStyle/>
          <a:p>
            <a:pPr marL="0" indent="0" algn="ctr">
              <a:buNone/>
            </a:pPr>
            <a:r>
              <a:rPr lang="en-US" sz="1150" dirty="0">
                <a:solidFill>
                  <a:srgbClr val="C9D4E1"/>
                </a:solidFill>
                <a:latin typeface="Calibri" pitchFamily="34" charset="0"/>
                <a:ea typeface="Calibri" pitchFamily="34" charset="-122"/>
                <a:cs typeface="Calibri" pitchFamily="34" charset="-120"/>
              </a:rPr>
              <a:t>Blazor Server + Radzen</a:t>
            </a:r>
            <a:endParaRPr lang="en-US" sz="1150" dirty="0"/>
          </a:p>
          <a:p>
            <a:pPr marL="0" indent="0" algn="ctr">
              <a:buNone/>
            </a:pPr>
            <a:r>
              <a:rPr lang="en-US" sz="1150" dirty="0">
                <a:solidFill>
                  <a:srgbClr val="C9D4E1"/>
                </a:solidFill>
                <a:latin typeface="Calibri" pitchFamily="34" charset="0"/>
                <a:ea typeface="Calibri" pitchFamily="34" charset="-122"/>
                <a:cs typeface="Calibri" pitchFamily="34" charset="-120"/>
              </a:rPr>
              <a:t>Grids, dialogs, AI screens</a:t>
            </a:r>
            <a:endParaRPr lang="en-US" sz="1150" dirty="0"/>
          </a:p>
        </p:txBody>
      </p:sp>
      <p:sp>
        <p:nvSpPr>
          <p:cNvPr id="13" name="Shape 11"/>
          <p:cNvSpPr/>
          <p:nvPr/>
        </p:nvSpPr>
        <p:spPr>
          <a:xfrm>
            <a:off x="6144768" y="3182112"/>
            <a:ext cx="411480" cy="274320"/>
          </a:xfrm>
          <a:prstGeom prst="rightArrow">
            <a:avLst/>
          </a:prstGeom>
          <a:solidFill>
            <a:srgbClr val="6C7A8A"/>
          </a:solidFill>
          <a:ln w="12700">
            <a:solidFill>
              <a:srgbClr val="6C7A8A"/>
            </a:solidFill>
            <a:prstDash val="solid"/>
          </a:ln>
        </p:spPr>
        <p:txBody>
          <a:bodyPr/>
          <a:lstStyle/>
          <a:p>
            <a:endParaRPr lang="en-US"/>
          </a:p>
        </p:txBody>
      </p:sp>
      <p:sp>
        <p:nvSpPr>
          <p:cNvPr id="14" name="Shape 12"/>
          <p:cNvSpPr/>
          <p:nvPr/>
        </p:nvSpPr>
        <p:spPr>
          <a:xfrm>
            <a:off x="6675120" y="2606040"/>
            <a:ext cx="2743200" cy="1417320"/>
          </a:xfrm>
          <a:prstGeom prst="roundRect">
            <a:avLst>
              <a:gd name="adj" fmla="val 6452"/>
            </a:avLst>
          </a:prstGeom>
          <a:solidFill>
            <a:srgbClr val="FFFFFF"/>
          </a:solidFill>
          <a:ln w="12700">
            <a:solidFill>
              <a:srgbClr val="D9DFE7"/>
            </a:solidFill>
            <a:prstDash val="solid"/>
          </a:ln>
          <a:effectLst>
            <a:outerShdw blurRad="127000" dist="38100" dir="5400000" algn="bl" rotWithShape="0">
              <a:srgbClr val="000000">
                <a:alpha val="18000"/>
              </a:srgbClr>
            </a:outerShdw>
          </a:effectLst>
        </p:spPr>
        <p:txBody>
          <a:bodyPr/>
          <a:lstStyle/>
          <a:p>
            <a:endParaRPr lang="en-US"/>
          </a:p>
        </p:txBody>
      </p:sp>
      <p:sp>
        <p:nvSpPr>
          <p:cNvPr id="15" name="Text 13"/>
          <p:cNvSpPr txBox="1"/>
          <p:nvPr/>
        </p:nvSpPr>
        <p:spPr>
          <a:xfrm>
            <a:off x="6812280" y="2715768"/>
            <a:ext cx="2468880" cy="365760"/>
          </a:xfrm>
          <a:prstGeom prst="rect">
            <a:avLst/>
          </a:prstGeom>
          <a:noFill/>
          <a:ln/>
        </p:spPr>
        <p:txBody>
          <a:bodyPr wrap="square" lIns="0" tIns="0" rIns="0" bIns="0" rtlCol="0" anchor="ctr"/>
          <a:lstStyle/>
          <a:p>
            <a:pPr marL="0" indent="0" algn="ctr">
              <a:buNone/>
            </a:pPr>
            <a:r>
              <a:rPr lang="en-US" sz="1500" b="1" dirty="0">
                <a:solidFill>
                  <a:srgbClr val="1B2430"/>
                </a:solidFill>
                <a:latin typeface="Calibri" pitchFamily="34" charset="0"/>
                <a:ea typeface="Calibri" pitchFamily="34" charset="-122"/>
                <a:cs typeface="Calibri" pitchFamily="34" charset="-120"/>
              </a:rPr>
              <a:t>SQL Server Express</a:t>
            </a:r>
            <a:endParaRPr lang="en-US" sz="1500" dirty="0"/>
          </a:p>
        </p:txBody>
      </p:sp>
      <p:sp>
        <p:nvSpPr>
          <p:cNvPr id="16" name="Text 14"/>
          <p:cNvSpPr txBox="1"/>
          <p:nvPr/>
        </p:nvSpPr>
        <p:spPr>
          <a:xfrm>
            <a:off x="6812280" y="3063240"/>
            <a:ext cx="2468880" cy="868680"/>
          </a:xfrm>
          <a:prstGeom prst="rect">
            <a:avLst/>
          </a:prstGeom>
          <a:noFill/>
          <a:ln/>
        </p:spPr>
        <p:txBody>
          <a:bodyPr wrap="square" lIns="0" tIns="0" rIns="0" bIns="0" rtlCol="0" anchor="t"/>
          <a:lstStyle/>
          <a:p>
            <a:pPr marL="0" indent="0" algn="ctr">
              <a:buNone/>
            </a:pPr>
            <a:r>
              <a:rPr lang="en-US" sz="1150" dirty="0">
                <a:solidFill>
                  <a:srgbClr val="6C7A8A"/>
                </a:solidFill>
                <a:latin typeface="Calibri" pitchFamily="34" charset="0"/>
                <a:ea typeface="Calibri" pitchFamily="34" charset="-122"/>
                <a:cs typeface="Calibri" pitchFamily="34" charset="-120"/>
              </a:rPr>
              <a:t>Full copy of the Invoice Portal database</a:t>
            </a:r>
            <a:endParaRPr lang="en-US" sz="1150" dirty="0"/>
          </a:p>
          <a:p>
            <a:pPr marL="0" indent="0" algn="ctr">
              <a:buNone/>
            </a:pPr>
            <a:r>
              <a:rPr lang="en-US" sz="1150" dirty="0">
                <a:solidFill>
                  <a:srgbClr val="6C7A8A"/>
                </a:solidFill>
                <a:latin typeface="Calibri" pitchFamily="34" charset="0"/>
                <a:ea typeface="Calibri" pitchFamily="34" charset="-122"/>
                <a:cs typeface="Calibri" pitchFamily="34" charset="-120"/>
              </a:rPr>
              <a:t>Durable Docker volume</a:t>
            </a:r>
            <a:endParaRPr lang="en-US" sz="1150" dirty="0"/>
          </a:p>
        </p:txBody>
      </p:sp>
      <p:sp>
        <p:nvSpPr>
          <p:cNvPr id="17" name="Shape 15"/>
          <p:cNvSpPr/>
          <p:nvPr/>
        </p:nvSpPr>
        <p:spPr>
          <a:xfrm>
            <a:off x="6675120" y="4160520"/>
            <a:ext cx="2743200" cy="960120"/>
          </a:xfrm>
          <a:prstGeom prst="roundRect">
            <a:avLst>
              <a:gd name="adj" fmla="val 9524"/>
            </a:avLst>
          </a:prstGeom>
          <a:solidFill>
            <a:srgbClr val="FFFFFF"/>
          </a:solidFill>
          <a:ln w="12700">
            <a:solidFill>
              <a:srgbClr val="D9DFE7"/>
            </a:solidFill>
            <a:prstDash val="solid"/>
          </a:ln>
          <a:effectLst>
            <a:outerShdw blurRad="127000" dist="38100" dir="5400000" algn="bl" rotWithShape="0">
              <a:srgbClr val="000000">
                <a:alpha val="18000"/>
              </a:srgbClr>
            </a:outerShdw>
          </a:effectLst>
        </p:spPr>
        <p:txBody>
          <a:bodyPr/>
          <a:lstStyle/>
          <a:p>
            <a:endParaRPr lang="en-US"/>
          </a:p>
        </p:txBody>
      </p:sp>
      <p:sp>
        <p:nvSpPr>
          <p:cNvPr id="18" name="Text 16"/>
          <p:cNvSpPr txBox="1"/>
          <p:nvPr/>
        </p:nvSpPr>
        <p:spPr>
          <a:xfrm>
            <a:off x="6812280" y="4270248"/>
            <a:ext cx="2468880" cy="365760"/>
          </a:xfrm>
          <a:prstGeom prst="rect">
            <a:avLst/>
          </a:prstGeom>
          <a:noFill/>
          <a:ln/>
        </p:spPr>
        <p:txBody>
          <a:bodyPr wrap="square" lIns="0" tIns="0" rIns="0" bIns="0" rtlCol="0" anchor="ctr"/>
          <a:lstStyle/>
          <a:p>
            <a:pPr marL="0" indent="0" algn="ctr">
              <a:buNone/>
            </a:pPr>
            <a:r>
              <a:rPr lang="en-US" sz="1500" b="1" dirty="0">
                <a:solidFill>
                  <a:srgbClr val="1B2430"/>
                </a:solidFill>
                <a:latin typeface="Calibri" pitchFamily="34" charset="0"/>
                <a:ea typeface="Calibri" pitchFamily="34" charset="-122"/>
                <a:cs typeface="Calibri" pitchFamily="34" charset="-120"/>
              </a:rPr>
              <a:t>One-shot importer</a:t>
            </a:r>
            <a:endParaRPr lang="en-US" sz="1500" dirty="0"/>
          </a:p>
        </p:txBody>
      </p:sp>
      <p:sp>
        <p:nvSpPr>
          <p:cNvPr id="19" name="Text 17"/>
          <p:cNvSpPr txBox="1"/>
          <p:nvPr/>
        </p:nvSpPr>
        <p:spPr>
          <a:xfrm>
            <a:off x="6812280" y="4617720"/>
            <a:ext cx="2468880" cy="411480"/>
          </a:xfrm>
          <a:prstGeom prst="rect">
            <a:avLst/>
          </a:prstGeom>
          <a:noFill/>
          <a:ln/>
        </p:spPr>
        <p:txBody>
          <a:bodyPr wrap="square" lIns="0" tIns="0" rIns="0" bIns="0" rtlCol="0" anchor="t"/>
          <a:lstStyle/>
          <a:p>
            <a:pPr marL="0" indent="0" algn="ctr">
              <a:buNone/>
            </a:pPr>
            <a:r>
              <a:rPr lang="en-US" sz="1150" dirty="0">
                <a:solidFill>
                  <a:srgbClr val="6C7A8A"/>
                </a:solidFill>
                <a:latin typeface="Calibri" pitchFamily="34" charset="0"/>
                <a:ea typeface="Calibri" pitchFamily="34" charset="-122"/>
                <a:cs typeface="Calibri" pitchFamily="34" charset="-120"/>
              </a:rPr>
              <a:t>Restores the production backup on first run, then exits</a:t>
            </a:r>
            <a:endParaRPr lang="en-US" sz="1150" dirty="0"/>
          </a:p>
        </p:txBody>
      </p:sp>
      <p:sp>
        <p:nvSpPr>
          <p:cNvPr id="20" name="Shape 18"/>
          <p:cNvSpPr/>
          <p:nvPr/>
        </p:nvSpPr>
        <p:spPr>
          <a:xfrm>
            <a:off x="8046720" y="4041648"/>
            <a:ext cx="0" cy="118872"/>
          </a:xfrm>
          <a:prstGeom prst="line">
            <a:avLst/>
          </a:prstGeom>
          <a:noFill/>
          <a:ln w="19050">
            <a:solidFill>
              <a:srgbClr val="6C7A8A"/>
            </a:solidFill>
            <a:prstDash val="solid"/>
            <a:headEnd type="triangle"/>
          </a:ln>
        </p:spPr>
        <p:txBody>
          <a:bodyPr/>
          <a:lstStyle/>
          <a:p>
            <a:endParaRPr lang="en-US"/>
          </a:p>
        </p:txBody>
      </p:sp>
      <p:sp>
        <p:nvSpPr>
          <p:cNvPr id="21" name="Shape 19"/>
          <p:cNvSpPr/>
          <p:nvPr/>
        </p:nvSpPr>
        <p:spPr>
          <a:xfrm>
            <a:off x="9601200" y="2606040"/>
            <a:ext cx="1920240" cy="1417320"/>
          </a:xfrm>
          <a:prstGeom prst="roundRect">
            <a:avLst>
              <a:gd name="adj" fmla="val 6452"/>
            </a:avLst>
          </a:prstGeom>
          <a:solidFill>
            <a:srgbClr val="FFFFFF"/>
          </a:solidFill>
          <a:ln w="15875">
            <a:solidFill>
              <a:srgbClr val="3D6B9A"/>
            </a:solidFill>
            <a:prstDash val="dash"/>
          </a:ln>
        </p:spPr>
        <p:txBody>
          <a:bodyPr/>
          <a:lstStyle/>
          <a:p>
            <a:endParaRPr lang="en-US"/>
          </a:p>
        </p:txBody>
      </p:sp>
      <p:sp>
        <p:nvSpPr>
          <p:cNvPr id="22" name="Text 20"/>
          <p:cNvSpPr txBox="1"/>
          <p:nvPr/>
        </p:nvSpPr>
        <p:spPr>
          <a:xfrm>
            <a:off x="9738360" y="2715768"/>
            <a:ext cx="1645920" cy="365760"/>
          </a:xfrm>
          <a:prstGeom prst="rect">
            <a:avLst/>
          </a:prstGeom>
          <a:noFill/>
          <a:ln/>
        </p:spPr>
        <p:txBody>
          <a:bodyPr wrap="square" lIns="0" tIns="0" rIns="0" bIns="0" rtlCol="0" anchor="ctr"/>
          <a:lstStyle/>
          <a:p>
            <a:pPr marL="0" indent="0" algn="ctr">
              <a:buNone/>
            </a:pPr>
            <a:r>
              <a:rPr lang="en-US" sz="1500" b="1" dirty="0">
                <a:solidFill>
                  <a:srgbClr val="3D6B9A"/>
                </a:solidFill>
                <a:latin typeface="Calibri" pitchFamily="34" charset="0"/>
                <a:ea typeface="Calibri" pitchFamily="34" charset="-122"/>
                <a:cs typeface="Calibri" pitchFamily="34" charset="-120"/>
              </a:rPr>
              <a:t>AI model</a:t>
            </a:r>
            <a:endParaRPr lang="en-US" sz="1500" dirty="0"/>
          </a:p>
        </p:txBody>
      </p:sp>
      <p:sp>
        <p:nvSpPr>
          <p:cNvPr id="23" name="Text 21"/>
          <p:cNvSpPr txBox="1"/>
          <p:nvPr/>
        </p:nvSpPr>
        <p:spPr>
          <a:xfrm>
            <a:off x="9738360" y="3063240"/>
            <a:ext cx="1645920" cy="868680"/>
          </a:xfrm>
          <a:prstGeom prst="rect">
            <a:avLst/>
          </a:prstGeom>
          <a:noFill/>
          <a:ln/>
        </p:spPr>
        <p:txBody>
          <a:bodyPr wrap="square" lIns="0" tIns="0" rIns="0" bIns="0" rtlCol="0" anchor="t"/>
          <a:lstStyle/>
          <a:p>
            <a:pPr marL="0" indent="0" algn="ctr">
              <a:buNone/>
            </a:pPr>
            <a:r>
              <a:rPr lang="en-US" sz="1150" dirty="0">
                <a:solidFill>
                  <a:srgbClr val="6C7A8A"/>
                </a:solidFill>
                <a:latin typeface="Calibri" pitchFamily="34" charset="0"/>
                <a:ea typeface="Calibri" pitchFamily="34" charset="-122"/>
                <a:cs typeface="Calibri" pitchFamily="34" charset="-120"/>
              </a:rPr>
              <a:t>Optional. Built-in mock today.</a:t>
            </a:r>
            <a:endParaRPr lang="en-US" sz="1150" dirty="0"/>
          </a:p>
          <a:p>
            <a:pPr marL="0" indent="0" algn="ctr">
              <a:buNone/>
            </a:pPr>
            <a:r>
              <a:rPr lang="en-US" sz="1150" dirty="0">
                <a:solidFill>
                  <a:srgbClr val="6C7A8A"/>
                </a:solidFill>
                <a:latin typeface="Calibri" pitchFamily="34" charset="0"/>
                <a:ea typeface="Calibri" pitchFamily="34" charset="-122"/>
                <a:cs typeface="Calibri" pitchFamily="34" charset="-120"/>
              </a:rPr>
              <a:t>Local or Azure OpenAI later.</a:t>
            </a:r>
            <a:endParaRPr lang="en-US" sz="1150" dirty="0"/>
          </a:p>
        </p:txBody>
      </p:sp>
      <p:sp>
        <p:nvSpPr>
          <p:cNvPr id="24" name="Text 22"/>
          <p:cNvSpPr txBox="1"/>
          <p:nvPr/>
        </p:nvSpPr>
        <p:spPr>
          <a:xfrm>
            <a:off x="3291840" y="4343400"/>
            <a:ext cx="3108960" cy="274320"/>
          </a:xfrm>
          <a:prstGeom prst="rect">
            <a:avLst/>
          </a:prstGeom>
          <a:noFill/>
          <a:ln/>
        </p:spPr>
        <p:txBody>
          <a:bodyPr wrap="square" lIns="0" tIns="0" rIns="0" bIns="0" rtlCol="0" anchor="ctr"/>
          <a:lstStyle/>
          <a:p>
            <a:pPr marL="0" indent="0">
              <a:buNone/>
            </a:pPr>
            <a:r>
              <a:rPr lang="en-US" sz="1200" b="1" dirty="0">
                <a:solidFill>
                  <a:srgbClr val="1B2430"/>
                </a:solidFill>
                <a:latin typeface="Calibri" pitchFamily="34" charset="0"/>
                <a:ea typeface="Calibri" pitchFamily="34" charset="-122"/>
                <a:cs typeface="Calibri" pitchFamily="34" charset="-120"/>
              </a:rPr>
              <a:t>Production backup file (.bacpac)</a:t>
            </a:r>
            <a:endParaRPr lang="en-US" sz="1200" dirty="0"/>
          </a:p>
        </p:txBody>
      </p:sp>
      <p:sp>
        <p:nvSpPr>
          <p:cNvPr id="25" name="Text 23"/>
          <p:cNvSpPr txBox="1"/>
          <p:nvPr/>
        </p:nvSpPr>
        <p:spPr>
          <a:xfrm>
            <a:off x="3291840" y="4617720"/>
            <a:ext cx="3200400" cy="457200"/>
          </a:xfrm>
          <a:prstGeom prst="rect">
            <a:avLst/>
          </a:prstGeom>
          <a:noFill/>
          <a:ln/>
        </p:spPr>
        <p:txBody>
          <a:bodyPr wrap="square" lIns="0" tIns="0" rIns="0" bIns="0" rtlCol="0" anchor="ctr"/>
          <a:lstStyle/>
          <a:p>
            <a:pPr marL="0" indent="0">
              <a:buNone/>
            </a:pPr>
            <a:r>
              <a:rPr lang="en-US" sz="1150" dirty="0">
                <a:solidFill>
                  <a:srgbClr val="6C7A8A"/>
                </a:solidFill>
                <a:latin typeface="Calibri" pitchFamily="34" charset="0"/>
                <a:ea typeface="Calibri" pitchFamily="34" charset="-122"/>
                <a:cs typeface="Calibri" pitchFamily="34" charset="-120"/>
              </a:rPr>
              <a:t>Copied once to the laptop. Never written back anywhere.</a:t>
            </a:r>
            <a:endParaRPr lang="en-US" sz="1150" dirty="0"/>
          </a:p>
        </p:txBody>
      </p:sp>
      <p:sp>
        <p:nvSpPr>
          <p:cNvPr id="26" name="Shape 24"/>
          <p:cNvSpPr/>
          <p:nvPr/>
        </p:nvSpPr>
        <p:spPr>
          <a:xfrm>
            <a:off x="6263640" y="4480560"/>
            <a:ext cx="365760" cy="256032"/>
          </a:xfrm>
          <a:prstGeom prst="rightArrow">
            <a:avLst/>
          </a:prstGeom>
          <a:solidFill>
            <a:srgbClr val="B8C2CE"/>
          </a:solidFill>
          <a:ln w="12700">
            <a:solidFill>
              <a:srgbClr val="B8C2CE"/>
            </a:solidFill>
            <a:prstDash val="solid"/>
          </a:ln>
        </p:spPr>
        <p:txBody>
          <a:bodyPr/>
          <a:lstStyle/>
          <a:p>
            <a:endParaRPr lang="en-US"/>
          </a:p>
        </p:txBody>
      </p:sp>
      <p:sp>
        <p:nvSpPr>
          <p:cNvPr id="27" name="Text 25"/>
          <p:cNvSpPr txBox="1"/>
          <p:nvPr/>
        </p:nvSpPr>
        <p:spPr>
          <a:xfrm>
            <a:off x="548640" y="5623560"/>
            <a:ext cx="10972800" cy="411480"/>
          </a:xfrm>
          <a:prstGeom prst="rect">
            <a:avLst/>
          </a:prstGeom>
          <a:noFill/>
          <a:ln/>
        </p:spPr>
        <p:txBody>
          <a:bodyPr wrap="square" lIns="0" tIns="0" rIns="0" bIns="0" rtlCol="0" anchor="ctr"/>
          <a:lstStyle/>
          <a:p>
            <a:pPr marL="0" indent="0">
              <a:buNone/>
            </a:pPr>
            <a:r>
              <a:rPr lang="en-US" sz="1400" i="1" dirty="0">
                <a:solidFill>
                  <a:srgbClr val="1B2430"/>
                </a:solidFill>
                <a:latin typeface="Calibri" pitchFamily="34" charset="0"/>
                <a:ea typeface="Calibri" pitchFamily="34" charset="-122"/>
                <a:cs typeface="Calibri" pitchFamily="34" charset="-120"/>
              </a:rPr>
              <a:t>Start it with one command. Reset it with one command. The AI box is a plug, not a dependency.</a:t>
            </a:r>
            <a:endParaRPr lang="en-US" sz="1400" dirty="0"/>
          </a:p>
        </p:txBody>
      </p:sp>
      <p:sp>
        <p:nvSpPr>
          <p:cNvPr id="28" name="Text 2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What it's made of</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Boring, well-supported Microsoft pieces. That is a feature.</a:t>
            </a:r>
            <a:endParaRPr lang="en-US" sz="1600" dirty="0"/>
          </a:p>
        </p:txBody>
      </p:sp>
      <p:sp>
        <p:nvSpPr>
          <p:cNvPr id="4" name="Shape 2"/>
          <p:cNvSpPr/>
          <p:nvPr/>
        </p:nvSpPr>
        <p:spPr>
          <a:xfrm>
            <a:off x="548640" y="1920240"/>
            <a:ext cx="3566160" cy="1874520"/>
          </a:xfrm>
          <a:prstGeom prst="roundRect">
            <a:avLst>
              <a:gd name="adj" fmla="val 4878"/>
            </a:avLst>
          </a:prstGeom>
          <a:solidFill>
            <a:srgbClr val="F3F5F8"/>
          </a:solidFill>
          <a:ln w="12700">
            <a:solidFill>
              <a:srgbClr val="F3F5F8"/>
            </a:solidFill>
            <a:prstDash val="solid"/>
          </a:ln>
        </p:spPr>
        <p:txBody>
          <a:bodyPr/>
          <a:lstStyle/>
          <a:p>
            <a:endParaRPr lang="en-US"/>
          </a:p>
        </p:txBody>
      </p:sp>
      <p:sp>
        <p:nvSpPr>
          <p:cNvPr id="5" name="Shape 3"/>
          <p:cNvSpPr/>
          <p:nvPr/>
        </p:nvSpPr>
        <p:spPr>
          <a:xfrm>
            <a:off x="822960" y="219456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3778" y="2335378"/>
            <a:ext cx="358445" cy="358445"/>
          </a:xfrm>
          <a:prstGeom prst="rect">
            <a:avLst/>
          </a:prstGeom>
        </p:spPr>
      </p:pic>
      <p:sp>
        <p:nvSpPr>
          <p:cNvPr id="7" name="Text 4"/>
          <p:cNvSpPr txBox="1"/>
          <p:nvPr/>
        </p:nvSpPr>
        <p:spPr>
          <a:xfrm>
            <a:off x="822960" y="297180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.NET 10 and Blazor</a:t>
            </a:r>
            <a:endParaRPr lang="en-US" sz="1700" dirty="0"/>
          </a:p>
        </p:txBody>
      </p:sp>
      <p:sp>
        <p:nvSpPr>
          <p:cNvPr id="8" name="Text 5"/>
          <p:cNvSpPr txBox="1"/>
          <p:nvPr/>
        </p:nvSpPr>
        <p:spPr>
          <a:xfrm>
            <a:off x="822960" y="3383280"/>
            <a:ext cx="3017520" cy="22860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Our standard stack. C# end to end, one team can own it.</a:t>
            </a:r>
            <a:endParaRPr lang="en-US" sz="1350" dirty="0"/>
          </a:p>
        </p:txBody>
      </p:sp>
      <p:sp>
        <p:nvSpPr>
          <p:cNvPr id="9" name="Shape 6"/>
          <p:cNvSpPr/>
          <p:nvPr/>
        </p:nvSpPr>
        <p:spPr>
          <a:xfrm>
            <a:off x="4315968" y="1920240"/>
            <a:ext cx="3566160" cy="1874520"/>
          </a:xfrm>
          <a:prstGeom prst="roundRect">
            <a:avLst>
              <a:gd name="adj" fmla="val 4878"/>
            </a:avLst>
          </a:prstGeom>
          <a:solidFill>
            <a:srgbClr val="F3F5F8"/>
          </a:solidFill>
          <a:ln w="12700">
            <a:solidFill>
              <a:srgbClr val="F3F5F8"/>
            </a:solidFill>
            <a:prstDash val="solid"/>
          </a:ln>
        </p:spPr>
        <p:txBody>
          <a:bodyPr/>
          <a:lstStyle/>
          <a:p>
            <a:endParaRPr lang="en-US"/>
          </a:p>
        </p:txBody>
      </p:sp>
      <p:sp>
        <p:nvSpPr>
          <p:cNvPr id="10" name="Shape 7"/>
          <p:cNvSpPr/>
          <p:nvPr/>
        </p:nvSpPr>
        <p:spPr>
          <a:xfrm>
            <a:off x="4590288" y="219456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731106" y="2335378"/>
            <a:ext cx="358445" cy="358445"/>
          </a:xfrm>
          <a:prstGeom prst="rect">
            <a:avLst/>
          </a:prstGeom>
        </p:spPr>
      </p:pic>
      <p:sp>
        <p:nvSpPr>
          <p:cNvPr id="12" name="Text 8"/>
          <p:cNvSpPr txBox="1"/>
          <p:nvPr/>
        </p:nvSpPr>
        <p:spPr>
          <a:xfrm>
            <a:off x="4590288" y="297180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Radzen components</a:t>
            </a:r>
            <a:endParaRPr lang="en-US" sz="1700" dirty="0"/>
          </a:p>
        </p:txBody>
      </p:sp>
      <p:sp>
        <p:nvSpPr>
          <p:cNvPr id="13" name="Text 9"/>
          <p:cNvSpPr txBox="1"/>
          <p:nvPr/>
        </p:nvSpPr>
        <p:spPr>
          <a:xfrm>
            <a:off x="4590288" y="3383280"/>
            <a:ext cx="3017520" cy="22860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Grids, dialogs and forms that look finished on day one.</a:t>
            </a:r>
            <a:endParaRPr lang="en-US" sz="1350" dirty="0"/>
          </a:p>
        </p:txBody>
      </p:sp>
      <p:sp>
        <p:nvSpPr>
          <p:cNvPr id="14" name="Shape 10"/>
          <p:cNvSpPr/>
          <p:nvPr/>
        </p:nvSpPr>
        <p:spPr>
          <a:xfrm>
            <a:off x="8083296" y="1920240"/>
            <a:ext cx="3566160" cy="1874520"/>
          </a:xfrm>
          <a:prstGeom prst="roundRect">
            <a:avLst>
              <a:gd name="adj" fmla="val 4878"/>
            </a:avLst>
          </a:prstGeom>
          <a:solidFill>
            <a:srgbClr val="F3F5F8"/>
          </a:solidFill>
          <a:ln w="12700">
            <a:solidFill>
              <a:srgbClr val="F3F5F8"/>
            </a:solidFill>
            <a:prstDash val="solid"/>
          </a:ln>
        </p:spPr>
        <p:txBody>
          <a:bodyPr/>
          <a:lstStyle/>
          <a:p>
            <a:endParaRPr lang="en-US"/>
          </a:p>
        </p:txBody>
      </p:sp>
      <p:sp>
        <p:nvSpPr>
          <p:cNvPr id="15" name="Shape 11"/>
          <p:cNvSpPr/>
          <p:nvPr/>
        </p:nvSpPr>
        <p:spPr>
          <a:xfrm>
            <a:off x="8357616" y="219456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498434" y="2335378"/>
            <a:ext cx="358445" cy="358445"/>
          </a:xfrm>
          <a:prstGeom prst="rect">
            <a:avLst/>
          </a:prstGeom>
        </p:spPr>
      </p:pic>
      <p:sp>
        <p:nvSpPr>
          <p:cNvPr id="17" name="Text 12"/>
          <p:cNvSpPr txBox="1"/>
          <p:nvPr/>
        </p:nvSpPr>
        <p:spPr>
          <a:xfrm>
            <a:off x="8357616" y="297180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EF Core + SQL Server</a:t>
            </a:r>
            <a:endParaRPr lang="en-US" sz="1700" dirty="0"/>
          </a:p>
        </p:txBody>
      </p:sp>
      <p:sp>
        <p:nvSpPr>
          <p:cNvPr id="18" name="Text 13"/>
          <p:cNvSpPr txBox="1"/>
          <p:nvPr/>
        </p:nvSpPr>
        <p:spPr>
          <a:xfrm>
            <a:off x="8357616" y="3383280"/>
            <a:ext cx="3017520" cy="22860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The data model is generated from the real schema, not hand-typed.</a:t>
            </a:r>
            <a:endParaRPr lang="en-US" sz="1350" dirty="0"/>
          </a:p>
        </p:txBody>
      </p:sp>
      <p:sp>
        <p:nvSpPr>
          <p:cNvPr id="19" name="Shape 14"/>
          <p:cNvSpPr/>
          <p:nvPr/>
        </p:nvSpPr>
        <p:spPr>
          <a:xfrm>
            <a:off x="548640" y="3977640"/>
            <a:ext cx="3566160" cy="1874520"/>
          </a:xfrm>
          <a:prstGeom prst="roundRect">
            <a:avLst>
              <a:gd name="adj" fmla="val 4878"/>
            </a:avLst>
          </a:prstGeom>
          <a:solidFill>
            <a:srgbClr val="F3F5F8"/>
          </a:solidFill>
          <a:ln w="12700">
            <a:solidFill>
              <a:srgbClr val="F3F5F8"/>
            </a:solidFill>
            <a:prstDash val="solid"/>
          </a:ln>
        </p:spPr>
        <p:txBody>
          <a:bodyPr/>
          <a:lstStyle/>
          <a:p>
            <a:endParaRPr lang="en-US"/>
          </a:p>
        </p:txBody>
      </p:sp>
      <p:sp>
        <p:nvSpPr>
          <p:cNvPr id="20" name="Shape 15"/>
          <p:cNvSpPr/>
          <p:nvPr/>
        </p:nvSpPr>
        <p:spPr>
          <a:xfrm>
            <a:off x="822960" y="425196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963778" y="4392778"/>
            <a:ext cx="358445" cy="358445"/>
          </a:xfrm>
          <a:prstGeom prst="rect">
            <a:avLst/>
          </a:prstGeom>
        </p:spPr>
      </p:pic>
      <p:sp>
        <p:nvSpPr>
          <p:cNvPr id="22" name="Text 16"/>
          <p:cNvSpPr txBox="1"/>
          <p:nvPr/>
        </p:nvSpPr>
        <p:spPr>
          <a:xfrm>
            <a:off x="822960" y="502920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Docker Compose</a:t>
            </a:r>
            <a:endParaRPr lang="en-US" sz="1700" dirty="0"/>
          </a:p>
        </p:txBody>
      </p:sp>
      <p:sp>
        <p:nvSpPr>
          <p:cNvPr id="23" name="Text 17"/>
          <p:cNvSpPr txBox="1"/>
          <p:nvPr/>
        </p:nvSpPr>
        <p:spPr>
          <a:xfrm>
            <a:off x="822960" y="5440680"/>
            <a:ext cx="3017520" cy="22860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Same containers on a laptop, a build agent or Azure.</a:t>
            </a:r>
            <a:endParaRPr lang="en-US" sz="1350" dirty="0"/>
          </a:p>
        </p:txBody>
      </p:sp>
      <p:sp>
        <p:nvSpPr>
          <p:cNvPr id="24" name="Shape 18"/>
          <p:cNvSpPr/>
          <p:nvPr/>
        </p:nvSpPr>
        <p:spPr>
          <a:xfrm>
            <a:off x="4315968" y="3977640"/>
            <a:ext cx="3566160" cy="1874520"/>
          </a:xfrm>
          <a:prstGeom prst="roundRect">
            <a:avLst>
              <a:gd name="adj" fmla="val 4878"/>
            </a:avLst>
          </a:prstGeom>
          <a:solidFill>
            <a:srgbClr val="F3F5F8"/>
          </a:solidFill>
          <a:ln w="12700">
            <a:solidFill>
              <a:srgbClr val="F3F5F8"/>
            </a:solidFill>
            <a:prstDash val="solid"/>
          </a:ln>
        </p:spPr>
        <p:txBody>
          <a:bodyPr/>
          <a:lstStyle/>
          <a:p>
            <a:endParaRPr lang="en-US"/>
          </a:p>
        </p:txBody>
      </p:sp>
      <p:sp>
        <p:nvSpPr>
          <p:cNvPr id="25" name="Shape 19"/>
          <p:cNvSpPr/>
          <p:nvPr/>
        </p:nvSpPr>
        <p:spPr>
          <a:xfrm>
            <a:off x="4590288" y="425196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731106" y="4392778"/>
            <a:ext cx="358445" cy="358445"/>
          </a:xfrm>
          <a:prstGeom prst="rect">
            <a:avLst/>
          </a:prstGeom>
        </p:spPr>
      </p:pic>
      <p:sp>
        <p:nvSpPr>
          <p:cNvPr id="27" name="Text 20"/>
          <p:cNvSpPr txBox="1"/>
          <p:nvPr/>
        </p:nvSpPr>
        <p:spPr>
          <a:xfrm>
            <a:off x="4590288" y="502920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Microsoft.Extensions.AI</a:t>
            </a:r>
            <a:endParaRPr lang="en-US" sz="1700" dirty="0"/>
          </a:p>
        </p:txBody>
      </p:sp>
      <p:sp>
        <p:nvSpPr>
          <p:cNvPr id="28" name="Text 21"/>
          <p:cNvSpPr txBox="1"/>
          <p:nvPr/>
        </p:nvSpPr>
        <p:spPr>
          <a:xfrm>
            <a:off x="4590288" y="5440680"/>
            <a:ext cx="3017520" cy="22860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One AI interface; swap the model without touching the app.</a:t>
            </a:r>
            <a:endParaRPr lang="en-US" sz="1350" dirty="0"/>
          </a:p>
        </p:txBody>
      </p:sp>
      <p:sp>
        <p:nvSpPr>
          <p:cNvPr id="29" name="Shape 22"/>
          <p:cNvSpPr/>
          <p:nvPr/>
        </p:nvSpPr>
        <p:spPr>
          <a:xfrm>
            <a:off x="8083296" y="3977640"/>
            <a:ext cx="3566160" cy="1874520"/>
          </a:xfrm>
          <a:prstGeom prst="roundRect">
            <a:avLst>
              <a:gd name="adj" fmla="val 4878"/>
            </a:avLst>
          </a:prstGeom>
          <a:solidFill>
            <a:srgbClr val="F3F5F8"/>
          </a:solidFill>
          <a:ln w="12700">
            <a:solidFill>
              <a:srgbClr val="F3F5F8"/>
            </a:solidFill>
            <a:prstDash val="solid"/>
          </a:ln>
        </p:spPr>
        <p:txBody>
          <a:bodyPr/>
          <a:lstStyle/>
          <a:p>
            <a:endParaRPr lang="en-US"/>
          </a:p>
        </p:txBody>
      </p:sp>
      <p:sp>
        <p:nvSpPr>
          <p:cNvPr id="30" name="Shape 23"/>
          <p:cNvSpPr/>
          <p:nvPr/>
        </p:nvSpPr>
        <p:spPr>
          <a:xfrm>
            <a:off x="8357616" y="425196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8498434" y="4392778"/>
            <a:ext cx="358445" cy="358445"/>
          </a:xfrm>
          <a:prstGeom prst="rect">
            <a:avLst/>
          </a:prstGeom>
        </p:spPr>
      </p:pic>
      <p:sp>
        <p:nvSpPr>
          <p:cNvPr id="32" name="Text 24"/>
          <p:cNvSpPr txBox="1"/>
          <p:nvPr/>
        </p:nvSpPr>
        <p:spPr>
          <a:xfrm>
            <a:off x="8357616" y="502920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OpenTelemetry</a:t>
            </a:r>
            <a:endParaRPr lang="en-US" sz="1700" dirty="0"/>
          </a:p>
        </p:txBody>
      </p:sp>
      <p:sp>
        <p:nvSpPr>
          <p:cNvPr id="33" name="Text 25"/>
          <p:cNvSpPr txBox="1"/>
          <p:nvPr/>
        </p:nvSpPr>
        <p:spPr>
          <a:xfrm>
            <a:off x="8357616" y="5440680"/>
            <a:ext cx="3017520" cy="22860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Traces and metrics built in, so we can see what it is doing.</a:t>
            </a:r>
            <a:endParaRPr lang="en-US" sz="1350" dirty="0"/>
          </a:p>
        </p:txBody>
      </p:sp>
      <p:sp>
        <p:nvSpPr>
          <p:cNvPr id="34" name="Text 2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Runs on a laptop today. Azure tomorrow.</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Same container image, same code. Only the surroundings change.</a:t>
            </a:r>
            <a:endParaRPr lang="en-US" sz="1600" dirty="0"/>
          </a:p>
        </p:txBody>
      </p:sp>
      <p:sp>
        <p:nvSpPr>
          <p:cNvPr id="4" name="Shape 2"/>
          <p:cNvSpPr/>
          <p:nvPr/>
        </p:nvSpPr>
        <p:spPr>
          <a:xfrm>
            <a:off x="548640" y="1965960"/>
            <a:ext cx="5394960" cy="3657600"/>
          </a:xfrm>
          <a:prstGeom prst="roundRect">
            <a:avLst>
              <a:gd name="adj" fmla="val 3000"/>
            </a:avLst>
          </a:prstGeom>
          <a:solidFill>
            <a:srgbClr val="F3F5F8"/>
          </a:solidFill>
          <a:ln w="12700">
            <a:solidFill>
              <a:srgbClr val="F3F5F8"/>
            </a:solidFill>
            <a:prstDash val="solid"/>
          </a:ln>
        </p:spPr>
        <p:txBody>
          <a:bodyPr/>
          <a:lstStyle/>
          <a:p>
            <a:endParaRPr lang="en-US"/>
          </a:p>
        </p:txBody>
      </p:sp>
      <p:sp>
        <p:nvSpPr>
          <p:cNvPr id="5" name="Text 3"/>
          <p:cNvSpPr txBox="1"/>
          <p:nvPr/>
        </p:nvSpPr>
        <p:spPr>
          <a:xfrm>
            <a:off x="822960" y="2148840"/>
            <a:ext cx="4572000" cy="411480"/>
          </a:xfrm>
          <a:prstGeom prst="rect">
            <a:avLst/>
          </a:prstGeom>
          <a:noFill/>
          <a:ln/>
        </p:spPr>
        <p:txBody>
          <a:bodyPr wrap="square" lIns="0" tIns="0" rIns="0" bIns="0" rtlCol="0" anchor="ctr"/>
          <a:lstStyle/>
          <a:p>
            <a:pPr marL="0" indent="0">
              <a:buNone/>
            </a:pPr>
            <a:r>
              <a:rPr lang="en-US" sz="2200" b="1" dirty="0">
                <a:solidFill>
                  <a:srgbClr val="1B2430"/>
                </a:solidFill>
                <a:latin typeface="Cambria" pitchFamily="34" charset="0"/>
                <a:ea typeface="Cambria" pitchFamily="34" charset="-122"/>
                <a:cs typeface="Cambria" pitchFamily="34" charset="-120"/>
              </a:rPr>
              <a:t>Today: local</a:t>
            </a:r>
            <a:endParaRPr lang="en-US" sz="2200" dirty="0"/>
          </a:p>
        </p:txBody>
      </p:sp>
      <p:sp>
        <p:nvSpPr>
          <p:cNvPr id="6" name="Text 4"/>
          <p:cNvSpPr txBox="1"/>
          <p:nvPr/>
        </p:nvSpPr>
        <p:spPr>
          <a:xfrm>
            <a:off x="822960" y="2697480"/>
            <a:ext cx="48463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2430"/>
                </a:solidFill>
                <a:latin typeface="Calibri" pitchFamily="34" charset="0"/>
                <a:ea typeface="Calibri" pitchFamily="34" charset="-122"/>
                <a:cs typeface="Calibri" pitchFamily="34" charset="-120"/>
              </a:rPr>
              <a:t>One command to start, one to reset</a:t>
            </a:r>
            <a:endParaRPr lang="en-US" sz="1500" dirty="0"/>
          </a:p>
          <a:p>
            <a:pPr marL="342900" indent="-342900">
              <a:spcAft>
                <a:spcPts val="1000"/>
              </a:spcAft>
              <a:buSzPct val="100000"/>
              <a:buChar char="•"/>
            </a:pPr>
            <a:r>
              <a:rPr lang="en-US" sz="1500" dirty="0">
                <a:solidFill>
                  <a:srgbClr val="1B2430"/>
                </a:solidFill>
                <a:latin typeface="Calibri" pitchFamily="34" charset="0"/>
                <a:ea typeface="Calibri" pitchFamily="34" charset="-122"/>
                <a:cs typeface="Calibri" pitchFamily="34" charset="-120"/>
              </a:rPr>
              <a:t>Real data, zero cloud spend</a:t>
            </a:r>
            <a:endParaRPr lang="en-US" sz="1500" dirty="0"/>
          </a:p>
          <a:p>
            <a:pPr marL="342900" indent="-342900">
              <a:spcAft>
                <a:spcPts val="1000"/>
              </a:spcAft>
              <a:buSzPct val="100000"/>
              <a:buChar char="•"/>
            </a:pPr>
            <a:r>
              <a:rPr lang="en-US" sz="1500" dirty="0">
                <a:solidFill>
                  <a:srgbClr val="1B2430"/>
                </a:solidFill>
                <a:latin typeface="Calibri" pitchFamily="34" charset="0"/>
                <a:ea typeface="Calibri" pitchFamily="34" charset="-122"/>
                <a:cs typeface="Calibri" pitchFamily="34" charset="-120"/>
              </a:rPr>
              <a:t>AI uses the built-in stand-in or a model on the developer's GPU</a:t>
            </a:r>
            <a:endParaRPr lang="en-US" sz="1500" dirty="0"/>
          </a:p>
          <a:p>
            <a:pPr marL="342900" indent="-342900">
              <a:spcAft>
                <a:spcPts val="1000"/>
              </a:spcAft>
              <a:buSzPct val="100000"/>
              <a:buChar char="•"/>
            </a:pPr>
            <a:r>
              <a:rPr lang="en-US" sz="1500" dirty="0">
                <a:solidFill>
                  <a:srgbClr val="1B2430"/>
                </a:solidFill>
                <a:latin typeface="Calibri" pitchFamily="34" charset="0"/>
                <a:ea typeface="Calibri" pitchFamily="34" charset="-122"/>
                <a:cs typeface="Calibri" pitchFamily="34" charset="-120"/>
              </a:rPr>
              <a:t>Nothing leaves the machine</a:t>
            </a:r>
            <a:endParaRPr lang="en-US" sz="1500" dirty="0"/>
          </a:p>
        </p:txBody>
      </p:sp>
      <p:sp>
        <p:nvSpPr>
          <p:cNvPr id="7" name="Shape 5"/>
          <p:cNvSpPr/>
          <p:nvPr/>
        </p:nvSpPr>
        <p:spPr>
          <a:xfrm>
            <a:off x="6263640" y="1965960"/>
            <a:ext cx="5394960" cy="3657600"/>
          </a:xfrm>
          <a:prstGeom prst="roundRect">
            <a:avLst>
              <a:gd name="adj" fmla="val 3000"/>
            </a:avLst>
          </a:prstGeom>
          <a:solidFill>
            <a:srgbClr val="13233A"/>
          </a:solidFill>
          <a:ln w="12700">
            <a:solidFill>
              <a:srgbClr val="13233A"/>
            </a:solidFill>
            <a:prstDash val="solid"/>
          </a:ln>
        </p:spPr>
        <p:txBody>
          <a:bodyPr/>
          <a:lstStyle/>
          <a:p>
            <a:endParaRPr lang="en-US"/>
          </a:p>
        </p:txBody>
      </p:sp>
      <p:sp>
        <p:nvSpPr>
          <p:cNvPr id="8" name="Text 6"/>
          <p:cNvSpPr txBox="1"/>
          <p:nvPr/>
        </p:nvSpPr>
        <p:spPr>
          <a:xfrm>
            <a:off x="6537960" y="2148840"/>
            <a:ext cx="4572000" cy="4114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Ready: Azure</a:t>
            </a:r>
            <a:endParaRPr lang="en-US" sz="2200" dirty="0"/>
          </a:p>
        </p:txBody>
      </p:sp>
      <p:sp>
        <p:nvSpPr>
          <p:cNvPr id="9" name="Text 7"/>
          <p:cNvSpPr txBox="1"/>
          <p:nvPr/>
        </p:nvSpPr>
        <p:spPr>
          <a:xfrm>
            <a:off x="6537960" y="2697480"/>
            <a:ext cx="48463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3EAF2"/>
                </a:solidFill>
                <a:latin typeface="Calibri" pitchFamily="34" charset="0"/>
                <a:ea typeface="Calibri" pitchFamily="34" charset="-122"/>
                <a:cs typeface="Calibri" pitchFamily="34" charset="-120"/>
              </a:rPr>
              <a:t>Azure Container Apps, deployed with the Azure Developer CLI</a:t>
            </a:r>
            <a:endParaRPr lang="en-US" sz="1500" dirty="0"/>
          </a:p>
          <a:p>
            <a:pPr marL="342900" indent="-342900">
              <a:spcAft>
                <a:spcPts val="1000"/>
              </a:spcAft>
              <a:buSzPct val="100000"/>
              <a:buChar char="•"/>
            </a:pPr>
            <a:r>
              <a:rPr lang="en-US" sz="1500" dirty="0">
                <a:solidFill>
                  <a:srgbClr val="E3EAF2"/>
                </a:solidFill>
                <a:latin typeface="Calibri" pitchFamily="34" charset="0"/>
                <a:ea typeface="Calibri" pitchFamily="34" charset="-122"/>
                <a:cs typeface="Calibri" pitchFamily="34" charset="-120"/>
              </a:rPr>
              <a:t>Points at the existing Azure SQL database. It never creates or restores one</a:t>
            </a:r>
            <a:endParaRPr lang="en-US" sz="1500" dirty="0"/>
          </a:p>
          <a:p>
            <a:pPr marL="342900" indent="-342900">
              <a:spcAft>
                <a:spcPts val="1000"/>
              </a:spcAft>
              <a:buSzPct val="100000"/>
              <a:buChar char="•"/>
            </a:pPr>
            <a:r>
              <a:rPr lang="en-US" sz="1500" dirty="0">
                <a:solidFill>
                  <a:srgbClr val="E3EAF2"/>
                </a:solidFill>
                <a:latin typeface="Calibri" pitchFamily="34" charset="0"/>
                <a:ea typeface="Calibri" pitchFamily="34" charset="-122"/>
                <a:cs typeface="Calibri" pitchFamily="34" charset="-120"/>
              </a:rPr>
              <a:t>Managed identity everywhere: no passwords or keys in config</a:t>
            </a:r>
            <a:endParaRPr lang="en-US" sz="1500" dirty="0"/>
          </a:p>
          <a:p>
            <a:pPr marL="342900" indent="-342900">
              <a:spcAft>
                <a:spcPts val="1000"/>
              </a:spcAft>
              <a:buSzPct val="100000"/>
              <a:buChar char="•"/>
            </a:pPr>
            <a:r>
              <a:rPr lang="en-US" sz="1500" dirty="0">
                <a:solidFill>
                  <a:srgbClr val="E3EAF2"/>
                </a:solidFill>
                <a:latin typeface="Calibri" pitchFamily="34" charset="0"/>
                <a:ea typeface="Calibri" pitchFamily="34" charset="-122"/>
                <a:cs typeface="Calibri" pitchFamily="34" charset="-120"/>
              </a:rPr>
              <a:t>Entra ID sign-in switched on in front of the app</a:t>
            </a:r>
            <a:endParaRPr lang="en-US" sz="1500" dirty="0"/>
          </a:p>
        </p:txBody>
      </p:sp>
      <p:sp>
        <p:nvSpPr>
          <p:cNvPr id="10" name="Text 8"/>
          <p:cNvSpPr txBox="1"/>
          <p:nvPr/>
        </p:nvSpPr>
        <p:spPr>
          <a:xfrm>
            <a:off x="548640" y="5806440"/>
            <a:ext cx="10972800" cy="365760"/>
          </a:xfrm>
          <a:prstGeom prst="rect">
            <a:avLst/>
          </a:prstGeom>
          <a:noFill/>
          <a:ln/>
        </p:spPr>
        <p:txBody>
          <a:bodyPr wrap="square" lIns="0" tIns="0" rIns="0" bIns="0" rtlCol="0" anchor="ctr"/>
          <a:lstStyle/>
          <a:p>
            <a:pPr marL="0" indent="0">
              <a:buNone/>
            </a:pPr>
            <a:r>
              <a:rPr lang="en-US" sz="1300" i="1" dirty="0">
                <a:solidFill>
                  <a:srgbClr val="6C7A8A"/>
                </a:solidFill>
                <a:latin typeface="Calibri" pitchFamily="34" charset="0"/>
                <a:ea typeface="Calibri" pitchFamily="34" charset="-122"/>
                <a:cs typeface="Calibri" pitchFamily="34" charset="-120"/>
              </a:rPr>
              <a:t>Infrastructure is code in the repo, and a GitHub Actions workflow deploys on merge.</a:t>
            </a:r>
            <a:endParaRPr lang="en-US" sz="1300" dirty="0"/>
          </a:p>
        </p:txBody>
      </p:sp>
      <p:sp>
        <p:nvSpPr>
          <p:cNvPr id="11" name="Text 9"/>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33A"/>
        </a:solidFill>
        <a:effectLst/>
      </p:bgPr>
    </p:bg>
    <p:spTree>
      <p:nvGrpSpPr>
        <p:cNvPr id="1" name=""/>
        <p:cNvGrpSpPr/>
        <p:nvPr/>
      </p:nvGrpSpPr>
      <p:grpSpPr>
        <a:xfrm>
          <a:off x="0" y="0"/>
          <a:ext cx="0" cy="0"/>
          <a:chOff x="0" y="0"/>
          <a:chExt cx="0" cy="0"/>
        </a:xfrm>
      </p:grpSpPr>
      <p:sp>
        <p:nvSpPr>
          <p:cNvPr id="2" name="Shape 0"/>
          <p:cNvSpPr/>
          <p:nvPr/>
        </p:nvSpPr>
        <p:spPr>
          <a:xfrm>
            <a:off x="8412480" y="-1463040"/>
            <a:ext cx="5852160" cy="5852160"/>
          </a:xfrm>
          <a:prstGeom prst="ellipse">
            <a:avLst/>
          </a:prstGeom>
          <a:solidFill>
            <a:srgbClr val="1E3556"/>
          </a:solidFill>
          <a:ln w="12700">
            <a:solidFill>
              <a:srgbClr val="1E3556"/>
            </a:solidFill>
            <a:prstDash val="solid"/>
          </a:ln>
        </p:spPr>
        <p:txBody>
          <a:bodyPr/>
          <a:lstStyle/>
          <a:p>
            <a:endParaRPr lang="en-US"/>
          </a:p>
        </p:txBody>
      </p:sp>
      <p:sp>
        <p:nvSpPr>
          <p:cNvPr id="3" name="Shape 1"/>
          <p:cNvSpPr/>
          <p:nvPr/>
        </p:nvSpPr>
        <p:spPr>
          <a:xfrm>
            <a:off x="9966960" y="3931920"/>
            <a:ext cx="2011680" cy="2011680"/>
          </a:xfrm>
          <a:prstGeom prst="ellipse">
            <a:avLst/>
          </a:prstGeom>
          <a:solidFill>
            <a:srgbClr val="F0A429"/>
          </a:solidFill>
          <a:ln w="12700">
            <a:solidFill>
              <a:srgbClr val="F0A429"/>
            </a:solidFill>
            <a:prstDash val="solid"/>
          </a:ln>
        </p:spPr>
        <p:txBody>
          <a:bodyPr/>
          <a:lstStyle/>
          <a:p>
            <a:endParaRPr lang="en-US"/>
          </a:p>
        </p:txBody>
      </p:sp>
      <p:sp>
        <p:nvSpPr>
          <p:cNvPr id="4" name="Text 2"/>
          <p:cNvSpPr txBox="1"/>
          <p:nvPr/>
        </p:nvSpPr>
        <p:spPr>
          <a:xfrm>
            <a:off x="731520" y="1920240"/>
            <a:ext cx="7315200" cy="365760"/>
          </a:xfrm>
          <a:prstGeom prst="rect">
            <a:avLst/>
          </a:prstGeom>
          <a:noFill/>
          <a:ln/>
        </p:spPr>
        <p:txBody>
          <a:bodyPr wrap="square" lIns="0" tIns="0" rIns="0" bIns="0" rtlCol="0" anchor="ctr"/>
          <a:lstStyle/>
          <a:p>
            <a:pPr marL="0" indent="0">
              <a:buNone/>
            </a:pPr>
            <a:r>
              <a:rPr lang="en-US" sz="1400" b="1" kern="0" spc="400" dirty="0">
                <a:solidFill>
                  <a:srgbClr val="F0A429"/>
                </a:solidFill>
                <a:latin typeface="Calibri" pitchFamily="34" charset="0"/>
                <a:ea typeface="Calibri" pitchFamily="34" charset="-122"/>
                <a:cs typeface="Calibri" pitchFamily="34" charset="-120"/>
              </a:rPr>
              <a:t>CHAPTER 2</a:t>
            </a:r>
            <a:endParaRPr lang="en-US" sz="1400" dirty="0"/>
          </a:p>
        </p:txBody>
      </p:sp>
      <p:sp>
        <p:nvSpPr>
          <p:cNvPr id="5" name="Text 3"/>
          <p:cNvSpPr txBox="1"/>
          <p:nvPr/>
        </p:nvSpPr>
        <p:spPr>
          <a:xfrm>
            <a:off x="731520" y="2286000"/>
            <a:ext cx="7772400" cy="118872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A quick tour</a:t>
            </a:r>
            <a:endParaRPr lang="en-US" sz="4800" dirty="0"/>
          </a:p>
        </p:txBody>
      </p:sp>
      <p:sp>
        <p:nvSpPr>
          <p:cNvPr id="6" name="Text 4"/>
          <p:cNvSpPr txBox="1"/>
          <p:nvPr/>
        </p:nvSpPr>
        <p:spPr>
          <a:xfrm>
            <a:off x="731520" y="3520440"/>
            <a:ext cx="7315200" cy="731520"/>
          </a:xfrm>
          <a:prstGeom prst="rect">
            <a:avLst/>
          </a:prstGeom>
          <a:noFill/>
          <a:ln/>
        </p:spPr>
        <p:txBody>
          <a:bodyPr wrap="square" lIns="0" tIns="0" rIns="0" bIns="0" rtlCol="0" anchor="ctr"/>
          <a:lstStyle/>
          <a:p>
            <a:pPr marL="0" indent="0">
              <a:buNone/>
            </a:pPr>
            <a:r>
              <a:rPr lang="en-US" sz="1800" dirty="0">
                <a:solidFill>
                  <a:srgbClr val="C9D4E1"/>
                </a:solidFill>
                <a:latin typeface="Calibri" pitchFamily="34" charset="0"/>
                <a:ea typeface="Calibri" pitchFamily="34" charset="-122"/>
                <a:cs typeface="Calibri" pitchFamily="34" charset="-120"/>
              </a:rPr>
              <a:t>The screens people will actually use.</a:t>
            </a:r>
            <a:endParaRPr lang="en-US" sz="1800" dirty="0"/>
          </a:p>
        </p:txBody>
      </p:sp>
      <p:sp>
        <p:nvSpPr>
          <p:cNvPr id="8" name="Text 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8FA3BA"/>
                </a:solidFill>
                <a:latin typeface="Calibri" pitchFamily="34" charset="0"/>
                <a:ea typeface="Calibri" pitchFamily="34" charset="-122"/>
                <a:cs typeface="Calibri" pitchFamily="34" charset="-120"/>
              </a:rPr>
              <a:t>Invoice Portal Admin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Grids that do the heavy lifting</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Filter, sort and page through 38,000 invoices without a query in sight.</a:t>
            </a:r>
            <a:endParaRPr lang="en-US" sz="1600" dirty="0"/>
          </a:p>
        </p:txBody>
      </p:sp>
      <p:sp>
        <p:nvSpPr>
          <p:cNvPr id="4" name="Shape 2"/>
          <p:cNvSpPr/>
          <p:nvPr/>
        </p:nvSpPr>
        <p:spPr>
          <a:xfrm>
            <a:off x="548640" y="1828800"/>
            <a:ext cx="7040880" cy="4400550"/>
          </a:xfrm>
          <a:prstGeom prst="roundRect">
            <a:avLst>
              <a:gd name="adj" fmla="val 1662"/>
            </a:avLst>
          </a:prstGeom>
          <a:solidFill>
            <a:srgbClr val="FFFFFF"/>
          </a:solidFill>
          <a:ln w="9525">
            <a:solidFill>
              <a:srgbClr val="D9DFE7"/>
            </a:solidFill>
            <a:prstDash val="solid"/>
          </a:ln>
          <a:effectLst>
            <a:outerShdw blurRad="127000" dist="38100" dir="5400000" algn="bl" rotWithShape="0">
              <a:srgbClr val="000000">
                <a:alpha val="18000"/>
              </a:srgbClr>
            </a:outerShdw>
          </a:effectLst>
        </p:spPr>
        <p:txBody>
          <a:bodyPr/>
          <a:lstStyle/>
          <a:p>
            <a:endParaRPr lang="en-US"/>
          </a:p>
        </p:txBody>
      </p:sp>
      <p:pic>
        <p:nvPicPr>
          <p:cNvPr id="5" name="Image 0" descr="C:\Users\Kevin.Raffay\AppData\Local\Temp\claude\C--Sandbox-blazor-demo\8c585967-9a02-409f-ada6-232ab0e020b3\scratchpad\deck\shots\invoices.png"/>
          <p:cNvPicPr>
            <a:picLocks noChangeAspect="1"/>
          </p:cNvPicPr>
          <p:nvPr/>
        </p:nvPicPr>
        <p:blipFill>
          <a:blip r:embed="rId3"/>
          <a:stretch>
            <a:fillRect/>
          </a:stretch>
        </p:blipFill>
        <p:spPr>
          <a:xfrm>
            <a:off x="621792" y="1901952"/>
            <a:ext cx="6894576" cy="4254246"/>
          </a:xfrm>
          <a:prstGeom prst="rect">
            <a:avLst/>
          </a:prstGeom>
        </p:spPr>
      </p:pic>
      <p:sp>
        <p:nvSpPr>
          <p:cNvPr id="6" name="Shape 3"/>
          <p:cNvSpPr/>
          <p:nvPr/>
        </p:nvSpPr>
        <p:spPr>
          <a:xfrm>
            <a:off x="7955280" y="19202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8080004" y="2044964"/>
            <a:ext cx="317480" cy="317480"/>
          </a:xfrm>
          <a:prstGeom prst="rect">
            <a:avLst/>
          </a:prstGeom>
        </p:spPr>
      </p:pic>
      <p:sp>
        <p:nvSpPr>
          <p:cNvPr id="8" name="Text 4"/>
          <p:cNvSpPr txBox="1"/>
          <p:nvPr/>
        </p:nvSpPr>
        <p:spPr>
          <a:xfrm>
            <a:off x="8705088" y="1883664"/>
            <a:ext cx="2999232"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Server does the work</a:t>
            </a:r>
            <a:endParaRPr lang="en-US" sz="1500" dirty="0"/>
          </a:p>
        </p:txBody>
      </p:sp>
      <p:sp>
        <p:nvSpPr>
          <p:cNvPr id="9" name="Text 5"/>
          <p:cNvSpPr txBox="1"/>
          <p:nvPr/>
        </p:nvSpPr>
        <p:spPr>
          <a:xfrm>
            <a:off x="8705088" y="2194560"/>
            <a:ext cx="2999232" cy="91440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Only the rows on screen are fetched. Filters and sorts run in SQL, so it stays quick.</a:t>
            </a:r>
            <a:endParaRPr lang="en-US" sz="1250" dirty="0"/>
          </a:p>
        </p:txBody>
      </p:sp>
      <p:sp>
        <p:nvSpPr>
          <p:cNvPr id="10" name="Shape 6"/>
          <p:cNvSpPr/>
          <p:nvPr/>
        </p:nvSpPr>
        <p:spPr>
          <a:xfrm>
            <a:off x="7955280" y="32918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8080004" y="3416564"/>
            <a:ext cx="317480" cy="317480"/>
          </a:xfrm>
          <a:prstGeom prst="rect">
            <a:avLst/>
          </a:prstGeom>
        </p:spPr>
      </p:pic>
      <p:sp>
        <p:nvSpPr>
          <p:cNvPr id="12" name="Text 7"/>
          <p:cNvSpPr txBox="1"/>
          <p:nvPr/>
        </p:nvSpPr>
        <p:spPr>
          <a:xfrm>
            <a:off x="8705088" y="3255264"/>
            <a:ext cx="2999232"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Delete is reversible</a:t>
            </a:r>
            <a:endParaRPr lang="en-US" sz="1500" dirty="0"/>
          </a:p>
        </p:txBody>
      </p:sp>
      <p:sp>
        <p:nvSpPr>
          <p:cNvPr id="13" name="Text 8"/>
          <p:cNvSpPr txBox="1"/>
          <p:nvPr/>
        </p:nvSpPr>
        <p:spPr>
          <a:xfrm>
            <a:off x="8705088" y="3566160"/>
            <a:ext cx="2999232" cy="91440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Deleting an invoice hides it. Flip "Show deleted" and restore it in one click.</a:t>
            </a:r>
            <a:endParaRPr lang="en-US" sz="1250" dirty="0"/>
          </a:p>
        </p:txBody>
      </p:sp>
      <p:sp>
        <p:nvSpPr>
          <p:cNvPr id="14" name="Shape 9"/>
          <p:cNvSpPr/>
          <p:nvPr/>
        </p:nvSpPr>
        <p:spPr>
          <a:xfrm>
            <a:off x="7955280" y="46634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8080004" y="4788164"/>
            <a:ext cx="317480" cy="317480"/>
          </a:xfrm>
          <a:prstGeom prst="rect">
            <a:avLst/>
          </a:prstGeom>
        </p:spPr>
      </p:pic>
      <p:sp>
        <p:nvSpPr>
          <p:cNvPr id="16" name="Text 10"/>
          <p:cNvSpPr txBox="1"/>
          <p:nvPr/>
        </p:nvSpPr>
        <p:spPr>
          <a:xfrm>
            <a:off x="8705088" y="4626864"/>
            <a:ext cx="2999232"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Pick your columns</a:t>
            </a:r>
            <a:endParaRPr lang="en-US" sz="1500" dirty="0"/>
          </a:p>
        </p:txBody>
      </p:sp>
      <p:sp>
        <p:nvSpPr>
          <p:cNvPr id="17" name="Text 11"/>
          <p:cNvSpPr txBox="1"/>
          <p:nvPr/>
        </p:nvSpPr>
        <p:spPr>
          <a:xfrm>
            <a:off x="8705088" y="4937760"/>
            <a:ext cx="2999232" cy="91440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Each user shows the columns they care about. Nothing is lost, just tucked away.</a:t>
            </a:r>
            <a:endParaRPr lang="en-US" sz="1250" dirty="0"/>
          </a:p>
        </p:txBody>
      </p:sp>
      <p:sp>
        <p:nvSpPr>
          <p:cNvPr id="18" name="Text 12"/>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Editing without surprises</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A tabbed form with the fields grouped the way the business thinks about them.</a:t>
            </a:r>
            <a:endParaRPr lang="en-US" sz="1600" dirty="0"/>
          </a:p>
        </p:txBody>
      </p:sp>
      <p:sp>
        <p:nvSpPr>
          <p:cNvPr id="4" name="Shape 2"/>
          <p:cNvSpPr/>
          <p:nvPr/>
        </p:nvSpPr>
        <p:spPr>
          <a:xfrm>
            <a:off x="548640" y="19202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73364" y="2044964"/>
            <a:ext cx="317480" cy="317480"/>
          </a:xfrm>
          <a:prstGeom prst="rect">
            <a:avLst/>
          </a:prstGeom>
        </p:spPr>
      </p:pic>
      <p:sp>
        <p:nvSpPr>
          <p:cNvPr id="6" name="Text 3"/>
          <p:cNvSpPr txBox="1"/>
          <p:nvPr/>
        </p:nvSpPr>
        <p:spPr>
          <a:xfrm>
            <a:off x="1298448" y="1883664"/>
            <a:ext cx="2999232"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Dropdowns that follow the data</a:t>
            </a:r>
            <a:endParaRPr lang="en-US" sz="1500" dirty="0"/>
          </a:p>
        </p:txBody>
      </p:sp>
      <p:sp>
        <p:nvSpPr>
          <p:cNvPr id="7" name="Text 4"/>
          <p:cNvSpPr txBox="1"/>
          <p:nvPr/>
        </p:nvSpPr>
        <p:spPr>
          <a:xfrm>
            <a:off x="1298448" y="2194560"/>
            <a:ext cx="2999232" cy="91440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Pick a bottler and the payer list narrows. Pick a payer and the sales centers follow.</a:t>
            </a:r>
            <a:endParaRPr lang="en-US" sz="1250" dirty="0"/>
          </a:p>
        </p:txBody>
      </p:sp>
      <p:sp>
        <p:nvSpPr>
          <p:cNvPr id="8" name="Shape 5"/>
          <p:cNvSpPr/>
          <p:nvPr/>
        </p:nvSpPr>
        <p:spPr>
          <a:xfrm>
            <a:off x="548640" y="32918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673364" y="3416564"/>
            <a:ext cx="317480" cy="317480"/>
          </a:xfrm>
          <a:prstGeom prst="rect">
            <a:avLst/>
          </a:prstGeom>
        </p:spPr>
      </p:pic>
      <p:sp>
        <p:nvSpPr>
          <p:cNvPr id="10" name="Text 6"/>
          <p:cNvSpPr txBox="1"/>
          <p:nvPr/>
        </p:nvSpPr>
        <p:spPr>
          <a:xfrm>
            <a:off x="1298448" y="3255264"/>
            <a:ext cx="2999232"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Guardrails from the database</a:t>
            </a:r>
            <a:endParaRPr lang="en-US" sz="1500" dirty="0"/>
          </a:p>
        </p:txBody>
      </p:sp>
      <p:sp>
        <p:nvSpPr>
          <p:cNvPr id="11" name="Text 7"/>
          <p:cNvSpPr txBox="1"/>
          <p:nvPr/>
        </p:nvSpPr>
        <p:spPr>
          <a:xfrm>
            <a:off x="1298448" y="3566160"/>
            <a:ext cx="2999232" cy="91440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Required fields, unique ids and references are enforced. Errors come back in plain English.</a:t>
            </a:r>
            <a:endParaRPr lang="en-US" sz="1250" dirty="0"/>
          </a:p>
        </p:txBody>
      </p:sp>
      <p:sp>
        <p:nvSpPr>
          <p:cNvPr id="12" name="Shape 8"/>
          <p:cNvSpPr/>
          <p:nvPr/>
        </p:nvSpPr>
        <p:spPr>
          <a:xfrm>
            <a:off x="548640" y="46634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673364" y="4788164"/>
            <a:ext cx="317480" cy="317480"/>
          </a:xfrm>
          <a:prstGeom prst="rect">
            <a:avLst/>
          </a:prstGeom>
        </p:spPr>
      </p:pic>
      <p:sp>
        <p:nvSpPr>
          <p:cNvPr id="14" name="Text 9"/>
          <p:cNvSpPr txBox="1"/>
          <p:nvPr/>
        </p:nvSpPr>
        <p:spPr>
          <a:xfrm>
            <a:off x="1298448" y="4626864"/>
            <a:ext cx="2999232"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Audit stamps, automatically</a:t>
            </a:r>
            <a:endParaRPr lang="en-US" sz="1500" dirty="0"/>
          </a:p>
        </p:txBody>
      </p:sp>
      <p:sp>
        <p:nvSpPr>
          <p:cNvPr id="15" name="Text 10"/>
          <p:cNvSpPr txBox="1"/>
          <p:nvPr/>
        </p:nvSpPr>
        <p:spPr>
          <a:xfrm>
            <a:off x="1298448" y="4937760"/>
            <a:ext cx="2999232" cy="91440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Created and updated timestamps are set for you. Nothing to remember.</a:t>
            </a:r>
            <a:endParaRPr lang="en-US" sz="1250" dirty="0"/>
          </a:p>
        </p:txBody>
      </p:sp>
      <p:sp>
        <p:nvSpPr>
          <p:cNvPr id="16" name="Shape 11"/>
          <p:cNvSpPr/>
          <p:nvPr/>
        </p:nvSpPr>
        <p:spPr>
          <a:xfrm>
            <a:off x="4572000" y="1828800"/>
            <a:ext cx="7040880" cy="4400550"/>
          </a:xfrm>
          <a:prstGeom prst="roundRect">
            <a:avLst>
              <a:gd name="adj" fmla="val 1662"/>
            </a:avLst>
          </a:prstGeom>
          <a:solidFill>
            <a:srgbClr val="FFFFFF"/>
          </a:solidFill>
          <a:ln w="9525">
            <a:solidFill>
              <a:srgbClr val="D9DFE7"/>
            </a:solidFill>
            <a:prstDash val="solid"/>
          </a:ln>
          <a:effectLst>
            <a:outerShdw blurRad="127000" dist="38100" dir="5400000" algn="bl" rotWithShape="0">
              <a:srgbClr val="000000">
                <a:alpha val="18000"/>
              </a:srgbClr>
            </a:outerShdw>
          </a:effectLst>
        </p:spPr>
        <p:txBody>
          <a:bodyPr/>
          <a:lstStyle/>
          <a:p>
            <a:endParaRPr lang="en-US"/>
          </a:p>
        </p:txBody>
      </p:sp>
      <p:pic>
        <p:nvPicPr>
          <p:cNvPr id="17" name="Image 3" descr="C:\Users\Kevin.Raffay\AppData\Local\Temp\claude\C--Sandbox-blazor-demo\8c585967-9a02-409f-ada6-232ab0e020b3\scratchpad\deck\shots\invoice-dialog.png"/>
          <p:cNvPicPr>
            <a:picLocks noChangeAspect="1"/>
          </p:cNvPicPr>
          <p:nvPr/>
        </p:nvPicPr>
        <p:blipFill>
          <a:blip r:embed="rId6"/>
          <a:stretch>
            <a:fillRect/>
          </a:stretch>
        </p:blipFill>
        <p:spPr>
          <a:xfrm>
            <a:off x="4645152" y="1901952"/>
            <a:ext cx="6894576" cy="4254246"/>
          </a:xfrm>
          <a:prstGeom prst="rect">
            <a:avLst/>
          </a:prstGeom>
        </p:spPr>
      </p:pic>
      <p:sp>
        <p:nvSpPr>
          <p:cNvPr id="18" name="Text 12"/>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33A"/>
        </a:solidFill>
        <a:effectLst/>
      </p:bgPr>
    </p:bg>
    <p:spTree>
      <p:nvGrpSpPr>
        <p:cNvPr id="1" name=""/>
        <p:cNvGrpSpPr/>
        <p:nvPr/>
      </p:nvGrpSpPr>
      <p:grpSpPr>
        <a:xfrm>
          <a:off x="0" y="0"/>
          <a:ext cx="0" cy="0"/>
          <a:chOff x="0" y="0"/>
          <a:chExt cx="0" cy="0"/>
        </a:xfrm>
      </p:grpSpPr>
      <p:sp>
        <p:nvSpPr>
          <p:cNvPr id="2" name="Shape 0"/>
          <p:cNvSpPr/>
          <p:nvPr/>
        </p:nvSpPr>
        <p:spPr>
          <a:xfrm>
            <a:off x="8412480" y="-1463040"/>
            <a:ext cx="5852160" cy="5852160"/>
          </a:xfrm>
          <a:prstGeom prst="ellipse">
            <a:avLst/>
          </a:prstGeom>
          <a:solidFill>
            <a:srgbClr val="1E3556"/>
          </a:solidFill>
          <a:ln w="12700">
            <a:solidFill>
              <a:srgbClr val="1E3556"/>
            </a:solidFill>
            <a:prstDash val="solid"/>
          </a:ln>
        </p:spPr>
        <p:txBody>
          <a:bodyPr/>
          <a:lstStyle/>
          <a:p>
            <a:endParaRPr lang="en-US"/>
          </a:p>
        </p:txBody>
      </p:sp>
      <p:sp>
        <p:nvSpPr>
          <p:cNvPr id="3" name="Shape 1"/>
          <p:cNvSpPr/>
          <p:nvPr/>
        </p:nvSpPr>
        <p:spPr>
          <a:xfrm>
            <a:off x="9966960" y="3931920"/>
            <a:ext cx="2011680" cy="2011680"/>
          </a:xfrm>
          <a:prstGeom prst="ellipse">
            <a:avLst/>
          </a:prstGeom>
          <a:solidFill>
            <a:srgbClr val="F0A429"/>
          </a:solidFill>
          <a:ln w="12700">
            <a:solidFill>
              <a:srgbClr val="F0A429"/>
            </a:solidFill>
            <a:prstDash val="solid"/>
          </a:ln>
        </p:spPr>
        <p:txBody>
          <a:bodyPr/>
          <a:lstStyle/>
          <a:p>
            <a:endParaRPr lang="en-US"/>
          </a:p>
        </p:txBody>
      </p:sp>
      <p:sp>
        <p:nvSpPr>
          <p:cNvPr id="4" name="Text 2"/>
          <p:cNvSpPr txBox="1"/>
          <p:nvPr/>
        </p:nvSpPr>
        <p:spPr>
          <a:xfrm>
            <a:off x="731520" y="1920240"/>
            <a:ext cx="7315200" cy="365760"/>
          </a:xfrm>
          <a:prstGeom prst="rect">
            <a:avLst/>
          </a:prstGeom>
          <a:noFill/>
          <a:ln/>
        </p:spPr>
        <p:txBody>
          <a:bodyPr wrap="square" lIns="0" tIns="0" rIns="0" bIns="0" rtlCol="0" anchor="ctr"/>
          <a:lstStyle/>
          <a:p>
            <a:pPr marL="0" indent="0">
              <a:buNone/>
            </a:pPr>
            <a:r>
              <a:rPr lang="en-US" sz="1400" b="1" kern="0" spc="400" dirty="0">
                <a:solidFill>
                  <a:srgbClr val="F0A429"/>
                </a:solidFill>
                <a:latin typeface="Calibri" pitchFamily="34" charset="0"/>
                <a:ea typeface="Calibri" pitchFamily="34" charset="-122"/>
                <a:cs typeface="Calibri" pitchFamily="34" charset="-120"/>
              </a:rPr>
              <a:t>CHAPTER 3</a:t>
            </a:r>
            <a:endParaRPr lang="en-US" sz="1400" dirty="0"/>
          </a:p>
        </p:txBody>
      </p:sp>
      <p:sp>
        <p:nvSpPr>
          <p:cNvPr id="5" name="Text 3"/>
          <p:cNvSpPr txBox="1"/>
          <p:nvPr/>
        </p:nvSpPr>
        <p:spPr>
          <a:xfrm>
            <a:off x="731520" y="2286000"/>
            <a:ext cx="7772400" cy="118872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AI, with guardrails</a:t>
            </a:r>
            <a:endParaRPr lang="en-US" sz="4800" dirty="0"/>
          </a:p>
        </p:txBody>
      </p:sp>
      <p:sp>
        <p:nvSpPr>
          <p:cNvPr id="6" name="Text 4"/>
          <p:cNvSpPr txBox="1"/>
          <p:nvPr/>
        </p:nvSpPr>
        <p:spPr>
          <a:xfrm>
            <a:off x="731520" y="3520440"/>
            <a:ext cx="7315200" cy="731520"/>
          </a:xfrm>
          <a:prstGeom prst="rect">
            <a:avLst/>
          </a:prstGeom>
          <a:noFill/>
          <a:ln/>
        </p:spPr>
        <p:txBody>
          <a:bodyPr wrap="square" lIns="0" tIns="0" rIns="0" bIns="0" rtlCol="0" anchor="ctr"/>
          <a:lstStyle/>
          <a:p>
            <a:pPr marL="0" indent="0">
              <a:buNone/>
            </a:pPr>
            <a:r>
              <a:rPr lang="en-US" sz="1800" dirty="0">
                <a:solidFill>
                  <a:srgbClr val="C9D4E1"/>
                </a:solidFill>
                <a:latin typeface="Calibri" pitchFamily="34" charset="0"/>
                <a:ea typeface="Calibri" pitchFamily="34" charset="-122"/>
                <a:cs typeface="Calibri" pitchFamily="34" charset="-120"/>
              </a:rPr>
              <a:t>Two features. Both useful. Neither can hurt the data.</a:t>
            </a:r>
            <a:endParaRPr lang="en-US" sz="1800" dirty="0"/>
          </a:p>
        </p:txBody>
      </p:sp>
      <p:sp>
        <p:nvSpPr>
          <p:cNvPr id="7" name="Text 5"/>
          <p:cNvSpPr txBox="1"/>
          <p:nvPr/>
        </p:nvSpPr>
        <p:spPr>
          <a:xfrm>
            <a:off x="731520" y="4297680"/>
            <a:ext cx="7315200" cy="365760"/>
          </a:xfrm>
          <a:prstGeom prst="rect">
            <a:avLst/>
          </a:prstGeom>
          <a:noFill/>
          <a:ln/>
        </p:spPr>
        <p:txBody>
          <a:bodyPr wrap="square" lIns="0" tIns="0" rIns="0" bIns="0" rtlCol="0" anchor="ctr"/>
          <a:lstStyle/>
          <a:p>
            <a:pPr marL="0" indent="0">
              <a:buNone/>
            </a:pPr>
            <a:r>
              <a:rPr lang="en-US" sz="1400" i="1" dirty="0">
                <a:solidFill>
                  <a:srgbClr val="8FA3BA"/>
                </a:solidFill>
                <a:latin typeface="Calibri" pitchFamily="34" charset="0"/>
                <a:ea typeface="Calibri" pitchFamily="34" charset="-122"/>
                <a:cs typeface="Calibri" pitchFamily="34" charset="-120"/>
              </a:rPr>
              <a:t>Kevin</a:t>
            </a:r>
            <a:endParaRPr lang="en-US" sz="1400" dirty="0"/>
          </a:p>
        </p:txBody>
      </p:sp>
      <p:sp>
        <p:nvSpPr>
          <p:cNvPr id="8" name="Text 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8FA3BA"/>
                </a:solidFill>
                <a:latin typeface="Calibri" pitchFamily="34" charset="0"/>
                <a:ea typeface="Calibri" pitchFamily="34" charset="-122"/>
                <a:cs typeface="Calibri" pitchFamily="34" charset="-120"/>
              </a:rPr>
              <a:t>Invoice Portal Admin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Ask in plain English</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Type a question. Get a table. The SQL is there if you want to peek.</a:t>
            </a:r>
            <a:endParaRPr lang="en-US" sz="1600" dirty="0"/>
          </a:p>
        </p:txBody>
      </p:sp>
      <p:sp>
        <p:nvSpPr>
          <p:cNvPr id="4" name="Shape 2"/>
          <p:cNvSpPr/>
          <p:nvPr/>
        </p:nvSpPr>
        <p:spPr>
          <a:xfrm>
            <a:off x="548640" y="1828800"/>
            <a:ext cx="7040880" cy="4400550"/>
          </a:xfrm>
          <a:prstGeom prst="roundRect">
            <a:avLst>
              <a:gd name="adj" fmla="val 1662"/>
            </a:avLst>
          </a:prstGeom>
          <a:solidFill>
            <a:srgbClr val="FFFFFF"/>
          </a:solidFill>
          <a:ln w="9525">
            <a:solidFill>
              <a:srgbClr val="D9DFE7"/>
            </a:solidFill>
            <a:prstDash val="solid"/>
          </a:ln>
          <a:effectLst>
            <a:outerShdw blurRad="127000" dist="38100" dir="5400000" algn="bl" rotWithShape="0">
              <a:srgbClr val="000000">
                <a:alpha val="18000"/>
              </a:srgbClr>
            </a:outerShdw>
          </a:effectLst>
        </p:spPr>
        <p:txBody>
          <a:bodyPr/>
          <a:lstStyle/>
          <a:p>
            <a:endParaRPr lang="en-US"/>
          </a:p>
        </p:txBody>
      </p:sp>
      <p:pic>
        <p:nvPicPr>
          <p:cNvPr id="5" name="Image 0" descr="C:\Users\Kevin.Raffay\AppData\Local\Temp\claude\C--Sandbox-blazor-demo\8c585967-9a02-409f-ada6-232ab0e020b3\scratchpad\deck\shots\ai-query.gif"/>
          <p:cNvPicPr>
            <a:picLocks noChangeAspect="1"/>
          </p:cNvPicPr>
          <p:nvPr/>
        </p:nvPicPr>
        <p:blipFill>
          <a:blip r:embed="rId3"/>
          <a:stretch>
            <a:fillRect/>
          </a:stretch>
        </p:blipFill>
        <p:spPr>
          <a:xfrm>
            <a:off x="621792" y="1901952"/>
            <a:ext cx="6894576" cy="4254246"/>
          </a:xfrm>
          <a:prstGeom prst="rect">
            <a:avLst/>
          </a:prstGeom>
        </p:spPr>
      </p:pic>
      <p:sp>
        <p:nvSpPr>
          <p:cNvPr id="6" name="Shape 3"/>
          <p:cNvSpPr/>
          <p:nvPr/>
        </p:nvSpPr>
        <p:spPr>
          <a:xfrm>
            <a:off x="7955280" y="1874520"/>
            <a:ext cx="512064" cy="512064"/>
          </a:xfrm>
          <a:prstGeom prst="ellipse">
            <a:avLst/>
          </a:prstGeom>
          <a:solidFill>
            <a:srgbClr val="F0A429"/>
          </a:solidFill>
          <a:ln w="12700">
            <a:solidFill>
              <a:srgbClr val="F0A429"/>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8067934" y="1987174"/>
            <a:ext cx="286756" cy="286756"/>
          </a:xfrm>
          <a:prstGeom prst="rect">
            <a:avLst/>
          </a:prstGeom>
        </p:spPr>
      </p:pic>
      <p:sp>
        <p:nvSpPr>
          <p:cNvPr id="8" name="Text 4"/>
          <p:cNvSpPr txBox="1"/>
          <p:nvPr/>
        </p:nvSpPr>
        <p:spPr>
          <a:xfrm>
            <a:off x="8650224" y="1837944"/>
            <a:ext cx="3054096"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You ask</a:t>
            </a:r>
            <a:endParaRPr lang="en-US" sz="1500" dirty="0"/>
          </a:p>
        </p:txBody>
      </p:sp>
      <p:sp>
        <p:nvSpPr>
          <p:cNvPr id="9" name="Text 5"/>
          <p:cNvSpPr txBox="1"/>
          <p:nvPr/>
        </p:nvSpPr>
        <p:spPr>
          <a:xfrm>
            <a:off x="8650224" y="2148840"/>
            <a:ext cx="3054096" cy="54864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"Top 5 payers by total amount"</a:t>
            </a:r>
            <a:endParaRPr lang="en-US" sz="1250" dirty="0"/>
          </a:p>
        </p:txBody>
      </p:sp>
      <p:sp>
        <p:nvSpPr>
          <p:cNvPr id="10" name="Shape 6"/>
          <p:cNvSpPr/>
          <p:nvPr/>
        </p:nvSpPr>
        <p:spPr>
          <a:xfrm>
            <a:off x="7955280" y="2898648"/>
            <a:ext cx="512064" cy="512064"/>
          </a:xfrm>
          <a:prstGeom prst="ellipse">
            <a:avLst/>
          </a:prstGeom>
          <a:solidFill>
            <a:srgbClr val="F0A429"/>
          </a:solidFill>
          <a:ln w="12700">
            <a:solidFill>
              <a:srgbClr val="F0A429"/>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8067934" y="3011302"/>
            <a:ext cx="286756" cy="286756"/>
          </a:xfrm>
          <a:prstGeom prst="rect">
            <a:avLst/>
          </a:prstGeom>
        </p:spPr>
      </p:pic>
      <p:sp>
        <p:nvSpPr>
          <p:cNvPr id="12" name="Text 7"/>
          <p:cNvSpPr txBox="1"/>
          <p:nvPr/>
        </p:nvSpPr>
        <p:spPr>
          <a:xfrm>
            <a:off x="8650224" y="2862072"/>
            <a:ext cx="3054096"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The model drafts SQL</a:t>
            </a:r>
            <a:endParaRPr lang="en-US" sz="1500" dirty="0"/>
          </a:p>
        </p:txBody>
      </p:sp>
      <p:sp>
        <p:nvSpPr>
          <p:cNvPr id="13" name="Text 8"/>
          <p:cNvSpPr txBox="1"/>
          <p:nvPr/>
        </p:nvSpPr>
        <p:spPr>
          <a:xfrm>
            <a:off x="8650224" y="3172968"/>
            <a:ext cx="3054096" cy="54864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Read-only, using a description of our tables</a:t>
            </a:r>
            <a:endParaRPr lang="en-US" sz="1250" dirty="0"/>
          </a:p>
        </p:txBody>
      </p:sp>
      <p:sp>
        <p:nvSpPr>
          <p:cNvPr id="14" name="Shape 9"/>
          <p:cNvSpPr/>
          <p:nvPr/>
        </p:nvSpPr>
        <p:spPr>
          <a:xfrm>
            <a:off x="7955280" y="3922776"/>
            <a:ext cx="512064" cy="512064"/>
          </a:xfrm>
          <a:prstGeom prst="ellipse">
            <a:avLst/>
          </a:prstGeom>
          <a:solidFill>
            <a:srgbClr val="F0A429"/>
          </a:solidFill>
          <a:ln w="12700">
            <a:solidFill>
              <a:srgbClr val="F0A429"/>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8067934" y="4035430"/>
            <a:ext cx="286756" cy="286756"/>
          </a:xfrm>
          <a:prstGeom prst="rect">
            <a:avLst/>
          </a:prstGeom>
        </p:spPr>
      </p:pic>
      <p:sp>
        <p:nvSpPr>
          <p:cNvPr id="16" name="Text 10"/>
          <p:cNvSpPr txBox="1"/>
          <p:nvPr/>
        </p:nvSpPr>
        <p:spPr>
          <a:xfrm>
            <a:off x="8650224" y="3886200"/>
            <a:ext cx="3054096"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The app checks it</a:t>
            </a:r>
            <a:endParaRPr lang="en-US" sz="1500" dirty="0"/>
          </a:p>
        </p:txBody>
      </p:sp>
      <p:sp>
        <p:nvSpPr>
          <p:cNvPr id="17" name="Text 11"/>
          <p:cNvSpPr txBox="1"/>
          <p:nvPr/>
        </p:nvSpPr>
        <p:spPr>
          <a:xfrm>
            <a:off x="8650224" y="4197096"/>
            <a:ext cx="3054096" cy="54864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Anything but a single SELECT is rejected</a:t>
            </a:r>
            <a:endParaRPr lang="en-US" sz="1250" dirty="0"/>
          </a:p>
        </p:txBody>
      </p:sp>
      <p:sp>
        <p:nvSpPr>
          <p:cNvPr id="18" name="Shape 12"/>
          <p:cNvSpPr/>
          <p:nvPr/>
        </p:nvSpPr>
        <p:spPr>
          <a:xfrm>
            <a:off x="7955280" y="4946904"/>
            <a:ext cx="512064" cy="512064"/>
          </a:xfrm>
          <a:prstGeom prst="ellipse">
            <a:avLst/>
          </a:prstGeom>
          <a:solidFill>
            <a:srgbClr val="F0A429"/>
          </a:solidFill>
          <a:ln w="12700">
            <a:solidFill>
              <a:srgbClr val="F0A429"/>
            </a:solidFill>
            <a:prstDash val="solid"/>
          </a:ln>
        </p:spPr>
        <p:txBody>
          <a:bodyPr/>
          <a:lstStyle/>
          <a:p>
            <a:endParaRPr lang="en-US"/>
          </a:p>
        </p:txBody>
      </p:sp>
      <p:pic>
        <p:nvPicPr>
          <p:cNvPr id="19" name="Image 4" descr="preencoded.png"/>
          <p:cNvPicPr>
            <a:picLocks noChangeAspect="1"/>
          </p:cNvPicPr>
          <p:nvPr/>
        </p:nvPicPr>
        <p:blipFill>
          <a:blip r:embed="rId7"/>
          <a:stretch>
            <a:fillRect/>
          </a:stretch>
        </p:blipFill>
        <p:spPr>
          <a:xfrm>
            <a:off x="8067934" y="5059558"/>
            <a:ext cx="286756" cy="286756"/>
          </a:xfrm>
          <a:prstGeom prst="rect">
            <a:avLst/>
          </a:prstGeom>
        </p:spPr>
      </p:pic>
      <p:sp>
        <p:nvSpPr>
          <p:cNvPr id="20" name="Text 13"/>
          <p:cNvSpPr txBox="1"/>
          <p:nvPr/>
        </p:nvSpPr>
        <p:spPr>
          <a:xfrm>
            <a:off x="8650224" y="4910328"/>
            <a:ext cx="3054096"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You get a grid</a:t>
            </a:r>
            <a:endParaRPr lang="en-US" sz="1500" dirty="0"/>
          </a:p>
        </p:txBody>
      </p:sp>
      <p:sp>
        <p:nvSpPr>
          <p:cNvPr id="21" name="Text 14"/>
          <p:cNvSpPr txBox="1"/>
          <p:nvPr/>
        </p:nvSpPr>
        <p:spPr>
          <a:xfrm>
            <a:off x="8650224" y="5221224"/>
            <a:ext cx="3054096" cy="54864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Sortable, filterable, capped at 200 rows</a:t>
            </a:r>
            <a:endParaRPr lang="en-US" sz="1250" dirty="0"/>
          </a:p>
        </p:txBody>
      </p:sp>
      <p:sp>
        <p:nvSpPr>
          <p:cNvPr id="22" name="Text 15"/>
          <p:cNvSpPr txBox="1"/>
          <p:nvPr/>
        </p:nvSpPr>
        <p:spPr>
          <a:xfrm>
            <a:off x="7955280" y="5989320"/>
            <a:ext cx="3749040" cy="274320"/>
          </a:xfrm>
          <a:prstGeom prst="rect">
            <a:avLst/>
          </a:prstGeom>
          <a:noFill/>
          <a:ln/>
        </p:spPr>
        <p:txBody>
          <a:bodyPr wrap="square" lIns="0" tIns="0" rIns="0" bIns="0" rtlCol="0" anchor="ctr"/>
          <a:lstStyle/>
          <a:p>
            <a:pPr marL="0" indent="0">
              <a:buNone/>
            </a:pPr>
            <a:r>
              <a:rPr lang="en-US" sz="1000" i="1" dirty="0">
                <a:solidFill>
                  <a:srgbClr val="6C7A8A"/>
                </a:solidFill>
                <a:latin typeface="Calibri" pitchFamily="34" charset="0"/>
                <a:ea typeface="Calibri" pitchFamily="34" charset="-122"/>
                <a:cs typeface="Calibri" pitchFamily="34" charset="-120"/>
              </a:rPr>
              <a:t>Clip plays in slideshow mode.</a:t>
            </a:r>
            <a:endParaRPr lang="en-US" sz="1000" dirty="0"/>
          </a:p>
        </p:txBody>
      </p:sp>
      <p:sp>
        <p:nvSpPr>
          <p:cNvPr id="23" name="Text 1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What keeps it safe</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We assume the model will get it wrong sometimes. The app is built so that does not matter.</a:t>
            </a:r>
            <a:endParaRPr lang="en-US" sz="1600" dirty="0"/>
          </a:p>
        </p:txBody>
      </p:sp>
      <p:sp>
        <p:nvSpPr>
          <p:cNvPr id="4" name="Shape 2"/>
          <p:cNvSpPr/>
          <p:nvPr/>
        </p:nvSpPr>
        <p:spPr>
          <a:xfrm>
            <a:off x="548640" y="1920240"/>
            <a:ext cx="512064" cy="512064"/>
          </a:xfrm>
          <a:prstGeom prst="ellipse">
            <a:avLst/>
          </a:prstGeom>
          <a:solidFill>
            <a:srgbClr val="F0A429"/>
          </a:solidFill>
          <a:ln w="12700">
            <a:solidFill>
              <a:srgbClr val="F0A429"/>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61294" y="2032894"/>
            <a:ext cx="286756" cy="286756"/>
          </a:xfrm>
          <a:prstGeom prst="rect">
            <a:avLst/>
          </a:prstGeom>
        </p:spPr>
      </p:pic>
      <p:sp>
        <p:nvSpPr>
          <p:cNvPr id="6" name="Text 3"/>
          <p:cNvSpPr txBox="1"/>
          <p:nvPr/>
        </p:nvSpPr>
        <p:spPr>
          <a:xfrm>
            <a:off x="1243584" y="1883664"/>
            <a:ext cx="5888736"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Read only, full stop</a:t>
            </a:r>
            <a:endParaRPr lang="en-US" sz="1500" dirty="0"/>
          </a:p>
        </p:txBody>
      </p:sp>
      <p:sp>
        <p:nvSpPr>
          <p:cNvPr id="7" name="Text 4"/>
          <p:cNvSpPr txBox="1"/>
          <p:nvPr/>
        </p:nvSpPr>
        <p:spPr>
          <a:xfrm>
            <a:off x="1243584" y="2194560"/>
            <a:ext cx="5888736" cy="50292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One SELECT statement. No updates, deletes or admin commands, ever.</a:t>
            </a:r>
            <a:endParaRPr lang="en-US" sz="1250" dirty="0"/>
          </a:p>
        </p:txBody>
      </p:sp>
      <p:sp>
        <p:nvSpPr>
          <p:cNvPr id="8" name="Shape 5"/>
          <p:cNvSpPr/>
          <p:nvPr/>
        </p:nvSpPr>
        <p:spPr>
          <a:xfrm>
            <a:off x="548640" y="2761488"/>
            <a:ext cx="512064" cy="512064"/>
          </a:xfrm>
          <a:prstGeom prst="ellipse">
            <a:avLst/>
          </a:prstGeom>
          <a:solidFill>
            <a:srgbClr val="F0A429"/>
          </a:solidFill>
          <a:ln w="12700">
            <a:solidFill>
              <a:srgbClr val="F0A429"/>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661294" y="2874142"/>
            <a:ext cx="286756" cy="286756"/>
          </a:xfrm>
          <a:prstGeom prst="rect">
            <a:avLst/>
          </a:prstGeom>
        </p:spPr>
      </p:pic>
      <p:sp>
        <p:nvSpPr>
          <p:cNvPr id="10" name="Text 6"/>
          <p:cNvSpPr txBox="1"/>
          <p:nvPr/>
        </p:nvSpPr>
        <p:spPr>
          <a:xfrm>
            <a:off x="1243584" y="2724912"/>
            <a:ext cx="5888736"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Checked before it runs</a:t>
            </a:r>
            <a:endParaRPr lang="en-US" sz="1500" dirty="0"/>
          </a:p>
        </p:txBody>
      </p:sp>
      <p:sp>
        <p:nvSpPr>
          <p:cNvPr id="11" name="Text 7"/>
          <p:cNvSpPr txBox="1"/>
          <p:nvPr/>
        </p:nvSpPr>
        <p:spPr>
          <a:xfrm>
            <a:off x="1243584" y="3035808"/>
            <a:ext cx="5888736" cy="50292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The app inspects the SQL the model wrote and refuses anything outside the rules.</a:t>
            </a:r>
            <a:endParaRPr lang="en-US" sz="1250" dirty="0"/>
          </a:p>
        </p:txBody>
      </p:sp>
      <p:sp>
        <p:nvSpPr>
          <p:cNvPr id="12" name="Shape 8"/>
          <p:cNvSpPr/>
          <p:nvPr/>
        </p:nvSpPr>
        <p:spPr>
          <a:xfrm>
            <a:off x="548640" y="3602736"/>
            <a:ext cx="512064" cy="512064"/>
          </a:xfrm>
          <a:prstGeom prst="ellipse">
            <a:avLst/>
          </a:prstGeom>
          <a:solidFill>
            <a:srgbClr val="F0A429"/>
          </a:solidFill>
          <a:ln w="12700">
            <a:solidFill>
              <a:srgbClr val="F0A429"/>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661294" y="3715390"/>
            <a:ext cx="286756" cy="286756"/>
          </a:xfrm>
          <a:prstGeom prst="rect">
            <a:avLst/>
          </a:prstGeom>
        </p:spPr>
      </p:pic>
      <p:sp>
        <p:nvSpPr>
          <p:cNvPr id="14" name="Text 9"/>
          <p:cNvSpPr txBox="1"/>
          <p:nvPr/>
        </p:nvSpPr>
        <p:spPr>
          <a:xfrm>
            <a:off x="1243584" y="3566160"/>
            <a:ext cx="5888736"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Always rolled back</a:t>
            </a:r>
            <a:endParaRPr lang="en-US" sz="1500" dirty="0"/>
          </a:p>
        </p:txBody>
      </p:sp>
      <p:sp>
        <p:nvSpPr>
          <p:cNvPr id="15" name="Text 10"/>
          <p:cNvSpPr txBox="1"/>
          <p:nvPr/>
        </p:nvSpPr>
        <p:spPr>
          <a:xfrm>
            <a:off x="1243584" y="3877056"/>
            <a:ext cx="5888736" cy="50292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Every AI query runs in a transaction that is undone at the end, even when it succeeds.</a:t>
            </a:r>
            <a:endParaRPr lang="en-US" sz="1250" dirty="0"/>
          </a:p>
        </p:txBody>
      </p:sp>
      <p:sp>
        <p:nvSpPr>
          <p:cNvPr id="16" name="Shape 11"/>
          <p:cNvSpPr/>
          <p:nvPr/>
        </p:nvSpPr>
        <p:spPr>
          <a:xfrm>
            <a:off x="548640" y="4443984"/>
            <a:ext cx="512064" cy="512064"/>
          </a:xfrm>
          <a:prstGeom prst="ellipse">
            <a:avLst/>
          </a:prstGeom>
          <a:solidFill>
            <a:srgbClr val="F0A429"/>
          </a:solidFill>
          <a:ln w="12700">
            <a:solidFill>
              <a:srgbClr val="F0A429"/>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661294" y="4556638"/>
            <a:ext cx="286756" cy="286756"/>
          </a:xfrm>
          <a:prstGeom prst="rect">
            <a:avLst/>
          </a:prstGeom>
        </p:spPr>
      </p:pic>
      <p:sp>
        <p:nvSpPr>
          <p:cNvPr id="18" name="Text 12"/>
          <p:cNvSpPr txBox="1"/>
          <p:nvPr/>
        </p:nvSpPr>
        <p:spPr>
          <a:xfrm>
            <a:off x="1243584" y="4407408"/>
            <a:ext cx="5888736"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Hard limits</a:t>
            </a:r>
            <a:endParaRPr lang="en-US" sz="1500" dirty="0"/>
          </a:p>
        </p:txBody>
      </p:sp>
      <p:sp>
        <p:nvSpPr>
          <p:cNvPr id="19" name="Text 13"/>
          <p:cNvSpPr txBox="1"/>
          <p:nvPr/>
        </p:nvSpPr>
        <p:spPr>
          <a:xfrm>
            <a:off x="1243584" y="4718304"/>
            <a:ext cx="5888736" cy="50292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Five-second timeout, 200-row cap, ten questions a minute per user.</a:t>
            </a:r>
            <a:endParaRPr lang="en-US" sz="1250" dirty="0"/>
          </a:p>
        </p:txBody>
      </p:sp>
      <p:sp>
        <p:nvSpPr>
          <p:cNvPr id="20" name="Shape 14"/>
          <p:cNvSpPr/>
          <p:nvPr/>
        </p:nvSpPr>
        <p:spPr>
          <a:xfrm>
            <a:off x="548640" y="5285232"/>
            <a:ext cx="512064" cy="512064"/>
          </a:xfrm>
          <a:prstGeom prst="ellipse">
            <a:avLst/>
          </a:prstGeom>
          <a:solidFill>
            <a:srgbClr val="F0A429"/>
          </a:solidFill>
          <a:ln w="12700">
            <a:solidFill>
              <a:srgbClr val="F0A429"/>
            </a:solidFill>
            <a:prstDash val="solid"/>
          </a:ln>
        </p:spPr>
        <p:txBody>
          <a:bodyPr/>
          <a:lstStyle/>
          <a:p>
            <a:endParaRPr lang="en-US"/>
          </a:p>
        </p:txBody>
      </p:sp>
      <p:pic>
        <p:nvPicPr>
          <p:cNvPr id="21" name="Image 4" descr="preencoded.png"/>
          <p:cNvPicPr>
            <a:picLocks noChangeAspect="1"/>
          </p:cNvPicPr>
          <p:nvPr/>
        </p:nvPicPr>
        <p:blipFill>
          <a:blip r:embed="rId7"/>
          <a:stretch>
            <a:fillRect/>
          </a:stretch>
        </p:blipFill>
        <p:spPr>
          <a:xfrm>
            <a:off x="661294" y="5397886"/>
            <a:ext cx="286756" cy="286756"/>
          </a:xfrm>
          <a:prstGeom prst="rect">
            <a:avLst/>
          </a:prstGeom>
        </p:spPr>
      </p:pic>
      <p:sp>
        <p:nvSpPr>
          <p:cNvPr id="22" name="Text 15"/>
          <p:cNvSpPr txBox="1"/>
          <p:nvPr/>
        </p:nvSpPr>
        <p:spPr>
          <a:xfrm>
            <a:off x="1243584" y="5248656"/>
            <a:ext cx="5888736"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Switchable</a:t>
            </a:r>
            <a:endParaRPr lang="en-US" sz="1500" dirty="0"/>
          </a:p>
        </p:txBody>
      </p:sp>
      <p:sp>
        <p:nvSpPr>
          <p:cNvPr id="23" name="Text 16"/>
          <p:cNvSpPr txBox="1"/>
          <p:nvPr/>
        </p:nvSpPr>
        <p:spPr>
          <a:xfrm>
            <a:off x="1243584" y="5559552"/>
            <a:ext cx="5888736" cy="50292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Feature flags hide the AI entirely, or just the document chat, with one setting.</a:t>
            </a:r>
            <a:endParaRPr lang="en-US" sz="1250" dirty="0"/>
          </a:p>
        </p:txBody>
      </p:sp>
      <p:sp>
        <p:nvSpPr>
          <p:cNvPr id="24" name="Shape 17"/>
          <p:cNvSpPr/>
          <p:nvPr/>
        </p:nvSpPr>
        <p:spPr>
          <a:xfrm>
            <a:off x="7772400" y="2103120"/>
            <a:ext cx="1234440" cy="1554480"/>
          </a:xfrm>
          <a:prstGeom prst="roundRect">
            <a:avLst>
              <a:gd name="adj" fmla="val 7407"/>
            </a:avLst>
          </a:prstGeom>
          <a:solidFill>
            <a:srgbClr val="13233A"/>
          </a:solidFill>
          <a:ln w="12700">
            <a:solidFill>
              <a:srgbClr val="13233A"/>
            </a:solidFill>
            <a:prstDash val="solid"/>
          </a:ln>
        </p:spPr>
        <p:txBody>
          <a:bodyPr/>
          <a:lstStyle/>
          <a:p>
            <a:endParaRPr lang="en-US"/>
          </a:p>
        </p:txBody>
      </p:sp>
      <p:sp>
        <p:nvSpPr>
          <p:cNvPr id="25" name="Text 18"/>
          <p:cNvSpPr txBox="1"/>
          <p:nvPr/>
        </p:nvSpPr>
        <p:spPr>
          <a:xfrm>
            <a:off x="7772400" y="2240280"/>
            <a:ext cx="1234440" cy="731520"/>
          </a:xfrm>
          <a:prstGeom prst="rect">
            <a:avLst/>
          </a:prstGeom>
          <a:noFill/>
          <a:ln/>
        </p:spPr>
        <p:txBody>
          <a:bodyPr wrap="square" lIns="0" tIns="0" rIns="0" bIns="0" rtlCol="0" anchor="ctr"/>
          <a:lstStyle/>
          <a:p>
            <a:pPr marL="0" indent="0" algn="ctr">
              <a:buNone/>
            </a:pPr>
            <a:r>
              <a:rPr lang="en-US" sz="3000" b="1" dirty="0">
                <a:solidFill>
                  <a:srgbClr val="F0A429"/>
                </a:solidFill>
                <a:latin typeface="Cambria" pitchFamily="34" charset="0"/>
                <a:ea typeface="Cambria" pitchFamily="34" charset="-122"/>
                <a:cs typeface="Cambria" pitchFamily="34" charset="-120"/>
              </a:rPr>
              <a:t>200</a:t>
            </a:r>
            <a:endParaRPr lang="en-US" sz="3000" dirty="0"/>
          </a:p>
        </p:txBody>
      </p:sp>
      <p:sp>
        <p:nvSpPr>
          <p:cNvPr id="26" name="Text 19"/>
          <p:cNvSpPr txBox="1"/>
          <p:nvPr/>
        </p:nvSpPr>
        <p:spPr>
          <a:xfrm>
            <a:off x="7772400" y="2971800"/>
            <a:ext cx="1234440" cy="548640"/>
          </a:xfrm>
          <a:prstGeom prst="rect">
            <a:avLst/>
          </a:prstGeom>
          <a:noFill/>
          <a:ln/>
        </p:spPr>
        <p:txBody>
          <a:bodyPr wrap="square" lIns="0" tIns="0" rIns="0" bIns="0" rtlCol="0" anchor="ctr"/>
          <a:lstStyle/>
          <a:p>
            <a:pPr marL="0" indent="0" algn="ctr">
              <a:buNone/>
            </a:pPr>
            <a:r>
              <a:rPr lang="en-US" sz="1100" dirty="0">
                <a:solidFill>
                  <a:srgbClr val="C9D4E1"/>
                </a:solidFill>
                <a:latin typeface="Calibri" pitchFamily="34" charset="0"/>
                <a:ea typeface="Calibri" pitchFamily="34" charset="-122"/>
                <a:cs typeface="Calibri" pitchFamily="34" charset="-120"/>
              </a:rPr>
              <a:t>rows max</a:t>
            </a:r>
            <a:endParaRPr lang="en-US" sz="1100" dirty="0"/>
          </a:p>
        </p:txBody>
      </p:sp>
      <p:sp>
        <p:nvSpPr>
          <p:cNvPr id="27" name="Shape 20"/>
          <p:cNvSpPr/>
          <p:nvPr/>
        </p:nvSpPr>
        <p:spPr>
          <a:xfrm>
            <a:off x="9144000" y="2103120"/>
            <a:ext cx="1234440" cy="1554480"/>
          </a:xfrm>
          <a:prstGeom prst="roundRect">
            <a:avLst>
              <a:gd name="adj" fmla="val 7407"/>
            </a:avLst>
          </a:prstGeom>
          <a:solidFill>
            <a:srgbClr val="13233A"/>
          </a:solidFill>
          <a:ln w="12700">
            <a:solidFill>
              <a:srgbClr val="13233A"/>
            </a:solidFill>
            <a:prstDash val="solid"/>
          </a:ln>
        </p:spPr>
        <p:txBody>
          <a:bodyPr/>
          <a:lstStyle/>
          <a:p>
            <a:endParaRPr lang="en-US"/>
          </a:p>
        </p:txBody>
      </p:sp>
      <p:sp>
        <p:nvSpPr>
          <p:cNvPr id="28" name="Text 21"/>
          <p:cNvSpPr txBox="1"/>
          <p:nvPr/>
        </p:nvSpPr>
        <p:spPr>
          <a:xfrm>
            <a:off x="9144000" y="2240280"/>
            <a:ext cx="1234440" cy="731520"/>
          </a:xfrm>
          <a:prstGeom prst="rect">
            <a:avLst/>
          </a:prstGeom>
          <a:noFill/>
          <a:ln/>
        </p:spPr>
        <p:txBody>
          <a:bodyPr wrap="square" lIns="0" tIns="0" rIns="0" bIns="0" rtlCol="0" anchor="ctr"/>
          <a:lstStyle/>
          <a:p>
            <a:pPr marL="0" indent="0" algn="ctr">
              <a:buNone/>
            </a:pPr>
            <a:r>
              <a:rPr lang="en-US" sz="3000" b="1" dirty="0">
                <a:solidFill>
                  <a:srgbClr val="F0A429"/>
                </a:solidFill>
                <a:latin typeface="Cambria" pitchFamily="34" charset="0"/>
                <a:ea typeface="Cambria" pitchFamily="34" charset="-122"/>
                <a:cs typeface="Cambria" pitchFamily="34" charset="-120"/>
              </a:rPr>
              <a:t>5 s</a:t>
            </a:r>
            <a:endParaRPr lang="en-US" sz="3000" dirty="0"/>
          </a:p>
        </p:txBody>
      </p:sp>
      <p:sp>
        <p:nvSpPr>
          <p:cNvPr id="29" name="Text 22"/>
          <p:cNvSpPr txBox="1"/>
          <p:nvPr/>
        </p:nvSpPr>
        <p:spPr>
          <a:xfrm>
            <a:off x="9144000" y="2971800"/>
            <a:ext cx="1234440" cy="548640"/>
          </a:xfrm>
          <a:prstGeom prst="rect">
            <a:avLst/>
          </a:prstGeom>
          <a:noFill/>
          <a:ln/>
        </p:spPr>
        <p:txBody>
          <a:bodyPr wrap="square" lIns="0" tIns="0" rIns="0" bIns="0" rtlCol="0" anchor="ctr"/>
          <a:lstStyle/>
          <a:p>
            <a:pPr marL="0" indent="0" algn="ctr">
              <a:buNone/>
            </a:pPr>
            <a:r>
              <a:rPr lang="en-US" sz="1100" dirty="0">
                <a:solidFill>
                  <a:srgbClr val="C9D4E1"/>
                </a:solidFill>
                <a:latin typeface="Calibri" pitchFamily="34" charset="0"/>
                <a:ea typeface="Calibri" pitchFamily="34" charset="-122"/>
                <a:cs typeface="Calibri" pitchFamily="34" charset="-120"/>
              </a:rPr>
              <a:t>per query</a:t>
            </a:r>
            <a:endParaRPr lang="en-US" sz="1100" dirty="0"/>
          </a:p>
        </p:txBody>
      </p:sp>
      <p:sp>
        <p:nvSpPr>
          <p:cNvPr id="30" name="Shape 23"/>
          <p:cNvSpPr/>
          <p:nvPr/>
        </p:nvSpPr>
        <p:spPr>
          <a:xfrm>
            <a:off x="10515600" y="2103120"/>
            <a:ext cx="1234440" cy="1554480"/>
          </a:xfrm>
          <a:prstGeom prst="roundRect">
            <a:avLst>
              <a:gd name="adj" fmla="val 7407"/>
            </a:avLst>
          </a:prstGeom>
          <a:solidFill>
            <a:srgbClr val="13233A"/>
          </a:solidFill>
          <a:ln w="12700">
            <a:solidFill>
              <a:srgbClr val="13233A"/>
            </a:solidFill>
            <a:prstDash val="solid"/>
          </a:ln>
        </p:spPr>
        <p:txBody>
          <a:bodyPr/>
          <a:lstStyle/>
          <a:p>
            <a:endParaRPr lang="en-US"/>
          </a:p>
        </p:txBody>
      </p:sp>
      <p:sp>
        <p:nvSpPr>
          <p:cNvPr id="31" name="Text 24"/>
          <p:cNvSpPr txBox="1"/>
          <p:nvPr/>
        </p:nvSpPr>
        <p:spPr>
          <a:xfrm>
            <a:off x="10515600" y="2240280"/>
            <a:ext cx="1234440" cy="731520"/>
          </a:xfrm>
          <a:prstGeom prst="rect">
            <a:avLst/>
          </a:prstGeom>
          <a:noFill/>
          <a:ln/>
        </p:spPr>
        <p:txBody>
          <a:bodyPr wrap="square" lIns="0" tIns="0" rIns="0" bIns="0" rtlCol="0" anchor="ctr"/>
          <a:lstStyle/>
          <a:p>
            <a:pPr marL="0" indent="0" algn="ctr">
              <a:buNone/>
            </a:pPr>
            <a:r>
              <a:rPr lang="en-US" sz="3000" b="1" dirty="0">
                <a:solidFill>
                  <a:srgbClr val="F0A429"/>
                </a:solidFill>
                <a:latin typeface="Cambria" pitchFamily="34" charset="0"/>
                <a:ea typeface="Cambria" pitchFamily="34" charset="-122"/>
                <a:cs typeface="Cambria" pitchFamily="34" charset="-120"/>
              </a:rPr>
              <a:t>10</a:t>
            </a:r>
            <a:endParaRPr lang="en-US" sz="3000" dirty="0"/>
          </a:p>
        </p:txBody>
      </p:sp>
      <p:sp>
        <p:nvSpPr>
          <p:cNvPr id="32" name="Text 25"/>
          <p:cNvSpPr txBox="1"/>
          <p:nvPr/>
        </p:nvSpPr>
        <p:spPr>
          <a:xfrm>
            <a:off x="10515600" y="2971800"/>
            <a:ext cx="1234440" cy="548640"/>
          </a:xfrm>
          <a:prstGeom prst="rect">
            <a:avLst/>
          </a:prstGeom>
          <a:noFill/>
          <a:ln/>
        </p:spPr>
        <p:txBody>
          <a:bodyPr wrap="square" lIns="0" tIns="0" rIns="0" bIns="0" rtlCol="0" anchor="ctr"/>
          <a:lstStyle/>
          <a:p>
            <a:pPr marL="0" indent="0" algn="ctr">
              <a:buNone/>
            </a:pPr>
            <a:r>
              <a:rPr lang="en-US" sz="1100" dirty="0">
                <a:solidFill>
                  <a:srgbClr val="C9D4E1"/>
                </a:solidFill>
                <a:latin typeface="Calibri" pitchFamily="34" charset="0"/>
                <a:ea typeface="Calibri" pitchFamily="34" charset="-122"/>
                <a:cs typeface="Calibri" pitchFamily="34" charset="-120"/>
              </a:rPr>
              <a:t>asks per minute</a:t>
            </a:r>
            <a:endParaRPr lang="en-US" sz="1100" dirty="0"/>
          </a:p>
        </p:txBody>
      </p:sp>
      <p:sp>
        <p:nvSpPr>
          <p:cNvPr id="33" name="Text 26"/>
          <p:cNvSpPr txBox="1"/>
          <p:nvPr/>
        </p:nvSpPr>
        <p:spPr>
          <a:xfrm>
            <a:off x="7772400" y="3931920"/>
            <a:ext cx="3931920" cy="822960"/>
          </a:xfrm>
          <a:prstGeom prst="rect">
            <a:avLst/>
          </a:prstGeom>
          <a:noFill/>
          <a:ln/>
        </p:spPr>
        <p:txBody>
          <a:bodyPr wrap="square" lIns="0" tIns="0" rIns="0" bIns="0" rtlCol="0" anchor="ctr"/>
          <a:lstStyle/>
          <a:p>
            <a:pPr marL="0" indent="0">
              <a:buNone/>
            </a:pPr>
            <a:r>
              <a:rPr lang="en-US" sz="1250" i="1" dirty="0">
                <a:solidFill>
                  <a:srgbClr val="6C7A8A"/>
                </a:solidFill>
                <a:latin typeface="Calibri" pitchFamily="34" charset="0"/>
                <a:ea typeface="Calibri" pitchFamily="34" charset="-122"/>
                <a:cs typeface="Calibri" pitchFamily="34" charset="-120"/>
              </a:rPr>
              <a:t>Recommended next step: run AI queries under a read-only database login too. Belt and braces.</a:t>
            </a:r>
            <a:endParaRPr lang="en-US" sz="1250" dirty="0"/>
          </a:p>
        </p:txBody>
      </p:sp>
      <p:sp>
        <p:nvSpPr>
          <p:cNvPr id="34" name="Text 27"/>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Ask the documents</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Questions about a bottler, answered from our own documents, with receipts.</a:t>
            </a:r>
            <a:endParaRPr lang="en-US" sz="1600" dirty="0"/>
          </a:p>
        </p:txBody>
      </p:sp>
      <p:sp>
        <p:nvSpPr>
          <p:cNvPr id="4" name="Shape 2"/>
          <p:cNvSpPr/>
          <p:nvPr/>
        </p:nvSpPr>
        <p:spPr>
          <a:xfrm>
            <a:off x="548640" y="19202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73364" y="2044964"/>
            <a:ext cx="317480" cy="317480"/>
          </a:xfrm>
          <a:prstGeom prst="rect">
            <a:avLst/>
          </a:prstGeom>
        </p:spPr>
      </p:pic>
      <p:sp>
        <p:nvSpPr>
          <p:cNvPr id="6" name="Text 3"/>
          <p:cNvSpPr txBox="1"/>
          <p:nvPr/>
        </p:nvSpPr>
        <p:spPr>
          <a:xfrm>
            <a:off x="1298448" y="1883664"/>
            <a:ext cx="2999232"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Grounded, not guessed</a:t>
            </a:r>
            <a:endParaRPr lang="en-US" sz="1500" dirty="0"/>
          </a:p>
        </p:txBody>
      </p:sp>
      <p:sp>
        <p:nvSpPr>
          <p:cNvPr id="7" name="Text 4"/>
          <p:cNvSpPr txBox="1"/>
          <p:nvPr/>
        </p:nvSpPr>
        <p:spPr>
          <a:xfrm>
            <a:off x="1298448" y="2194560"/>
            <a:ext cx="2999232" cy="91440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The model only sees the documents we hand it and must answer from those.</a:t>
            </a:r>
            <a:endParaRPr lang="en-US" sz="1250" dirty="0"/>
          </a:p>
        </p:txBody>
      </p:sp>
      <p:sp>
        <p:nvSpPr>
          <p:cNvPr id="8" name="Shape 5"/>
          <p:cNvSpPr/>
          <p:nvPr/>
        </p:nvSpPr>
        <p:spPr>
          <a:xfrm>
            <a:off x="548640" y="32918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673364" y="3416564"/>
            <a:ext cx="317480" cy="317480"/>
          </a:xfrm>
          <a:prstGeom prst="rect">
            <a:avLst/>
          </a:prstGeom>
        </p:spPr>
      </p:pic>
      <p:sp>
        <p:nvSpPr>
          <p:cNvPr id="10" name="Text 6"/>
          <p:cNvSpPr txBox="1"/>
          <p:nvPr/>
        </p:nvSpPr>
        <p:spPr>
          <a:xfrm>
            <a:off x="1298448" y="3255264"/>
            <a:ext cx="2999232"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Every claim is cited</a:t>
            </a:r>
            <a:endParaRPr lang="en-US" sz="1500" dirty="0"/>
          </a:p>
        </p:txBody>
      </p:sp>
      <p:sp>
        <p:nvSpPr>
          <p:cNvPr id="11" name="Text 7"/>
          <p:cNvSpPr txBox="1"/>
          <p:nvPr/>
        </p:nvSpPr>
        <p:spPr>
          <a:xfrm>
            <a:off x="1298448" y="3566160"/>
            <a:ext cx="2999232" cy="91440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Each sentence carries a source label. Uncited answers are rejected.</a:t>
            </a:r>
            <a:endParaRPr lang="en-US" sz="1250" dirty="0"/>
          </a:p>
        </p:txBody>
      </p:sp>
      <p:sp>
        <p:nvSpPr>
          <p:cNvPr id="12" name="Shape 8"/>
          <p:cNvSpPr/>
          <p:nvPr/>
        </p:nvSpPr>
        <p:spPr>
          <a:xfrm>
            <a:off x="548640" y="46634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673364" y="4788164"/>
            <a:ext cx="317480" cy="317480"/>
          </a:xfrm>
          <a:prstGeom prst="rect">
            <a:avLst/>
          </a:prstGeom>
        </p:spPr>
      </p:pic>
      <p:sp>
        <p:nvSpPr>
          <p:cNvPr id="14" name="Text 9"/>
          <p:cNvSpPr txBox="1"/>
          <p:nvPr/>
        </p:nvSpPr>
        <p:spPr>
          <a:xfrm>
            <a:off x="1298448" y="4626864"/>
            <a:ext cx="2999232" cy="329184"/>
          </a:xfrm>
          <a:prstGeom prst="rect">
            <a:avLst/>
          </a:prstGeom>
          <a:noFill/>
          <a:ln/>
        </p:spPr>
        <p:txBody>
          <a:bodyPr wrap="square" lIns="0" tIns="0" rIns="0" bIns="0" rtlCol="0" anchor="t"/>
          <a:lstStyle/>
          <a:p>
            <a:pPr marL="0" indent="0">
              <a:buNone/>
            </a:pPr>
            <a:r>
              <a:rPr lang="en-US" sz="1500" b="1" dirty="0">
                <a:solidFill>
                  <a:srgbClr val="1B2430"/>
                </a:solidFill>
                <a:latin typeface="Calibri" pitchFamily="34" charset="0"/>
                <a:ea typeface="Calibri" pitchFamily="34" charset="-122"/>
                <a:cs typeface="Calibri" pitchFamily="34" charset="-120"/>
              </a:rPr>
              <a:t>One click from a bottler</a:t>
            </a:r>
            <a:endParaRPr lang="en-US" sz="1500" dirty="0"/>
          </a:p>
        </p:txBody>
      </p:sp>
      <p:sp>
        <p:nvSpPr>
          <p:cNvPr id="15" name="Text 10"/>
          <p:cNvSpPr txBox="1"/>
          <p:nvPr/>
        </p:nvSpPr>
        <p:spPr>
          <a:xfrm>
            <a:off x="1298448" y="4937760"/>
            <a:ext cx="2999232" cy="914400"/>
          </a:xfrm>
          <a:prstGeom prst="rect">
            <a:avLst/>
          </a:prstGeom>
          <a:noFill/>
          <a:ln/>
        </p:spPr>
        <p:txBody>
          <a:bodyPr wrap="square" lIns="0" tIns="0" rIns="0" bIns="0" rtlCol="0" anchor="t"/>
          <a:lstStyle/>
          <a:p>
            <a:pPr marL="0" indent="0">
              <a:buNone/>
            </a:pPr>
            <a:r>
              <a:rPr lang="en-US" sz="1250" dirty="0">
                <a:solidFill>
                  <a:srgbClr val="6C7A8A"/>
                </a:solidFill>
                <a:latin typeface="Calibri" pitchFamily="34" charset="0"/>
                <a:ea typeface="Calibri" pitchFamily="34" charset="-122"/>
                <a:cs typeface="Calibri" pitchFamily="34" charset="-120"/>
              </a:rPr>
              <a:t>The chat button on a bottler row opens with that customer's name already filled in.</a:t>
            </a:r>
            <a:endParaRPr lang="en-US" sz="1250" dirty="0"/>
          </a:p>
        </p:txBody>
      </p:sp>
      <p:sp>
        <p:nvSpPr>
          <p:cNvPr id="16" name="Shape 11"/>
          <p:cNvSpPr/>
          <p:nvPr/>
        </p:nvSpPr>
        <p:spPr>
          <a:xfrm>
            <a:off x="4572000" y="1828800"/>
            <a:ext cx="7040880" cy="4400550"/>
          </a:xfrm>
          <a:prstGeom prst="roundRect">
            <a:avLst>
              <a:gd name="adj" fmla="val 1662"/>
            </a:avLst>
          </a:prstGeom>
          <a:solidFill>
            <a:srgbClr val="FFFFFF"/>
          </a:solidFill>
          <a:ln w="9525">
            <a:solidFill>
              <a:srgbClr val="D9DFE7"/>
            </a:solidFill>
            <a:prstDash val="solid"/>
          </a:ln>
          <a:effectLst>
            <a:outerShdw blurRad="127000" dist="38100" dir="5400000" algn="bl" rotWithShape="0">
              <a:srgbClr val="000000">
                <a:alpha val="18000"/>
              </a:srgbClr>
            </a:outerShdw>
          </a:effectLst>
        </p:spPr>
        <p:txBody>
          <a:bodyPr/>
          <a:lstStyle/>
          <a:p>
            <a:endParaRPr lang="en-US"/>
          </a:p>
        </p:txBody>
      </p:sp>
      <p:pic>
        <p:nvPicPr>
          <p:cNvPr id="17" name="Image 3" descr="C:\Users\Kevin.Raffay\AppData\Local\Temp\claude\C--Sandbox-blazor-demo\8c585967-9a02-409f-ada6-232ab0e020b3\scratchpad\deck\shots\ask-docs.gif"/>
          <p:cNvPicPr>
            <a:picLocks noChangeAspect="1"/>
          </p:cNvPicPr>
          <p:nvPr/>
        </p:nvPicPr>
        <p:blipFill>
          <a:blip r:embed="rId6"/>
          <a:stretch>
            <a:fillRect/>
          </a:stretch>
        </p:blipFill>
        <p:spPr>
          <a:xfrm>
            <a:off x="4645152" y="1901952"/>
            <a:ext cx="6894576" cy="4254246"/>
          </a:xfrm>
          <a:prstGeom prst="rect">
            <a:avLst/>
          </a:prstGeom>
        </p:spPr>
      </p:pic>
      <p:sp>
        <p:nvSpPr>
          <p:cNvPr id="18" name="Text 12"/>
          <p:cNvSpPr txBox="1"/>
          <p:nvPr/>
        </p:nvSpPr>
        <p:spPr>
          <a:xfrm>
            <a:off x="4572000" y="6291072"/>
            <a:ext cx="7040880" cy="274320"/>
          </a:xfrm>
          <a:prstGeom prst="rect">
            <a:avLst/>
          </a:prstGeom>
          <a:noFill/>
          <a:ln/>
        </p:spPr>
        <p:txBody>
          <a:bodyPr wrap="square" lIns="0" tIns="0" rIns="0" bIns="0" rtlCol="0" anchor="ctr"/>
          <a:lstStyle/>
          <a:p>
            <a:pPr marL="0" indent="0" algn="r">
              <a:buNone/>
            </a:pPr>
            <a:r>
              <a:rPr lang="en-US" sz="1000" i="1" dirty="0">
                <a:solidFill>
                  <a:srgbClr val="6C7A8A"/>
                </a:solidFill>
                <a:latin typeface="Calibri" pitchFamily="34" charset="0"/>
                <a:ea typeface="Calibri" pitchFamily="34" charset="-122"/>
                <a:cs typeface="Calibri" pitchFamily="34" charset="-120"/>
              </a:rPr>
              <a:t>Clip plays in slideshow mode. Documents shown are sample content.</a:t>
            </a:r>
            <a:endParaRPr lang="en-US" sz="1000" dirty="0"/>
          </a:p>
        </p:txBody>
      </p:sp>
      <p:sp>
        <p:nvSpPr>
          <p:cNvPr id="19" name="Text 1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Swap the brain, keep the app</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The model is a setting. Three options are wired in today.</a:t>
            </a:r>
            <a:endParaRPr lang="en-US" sz="1600" dirty="0"/>
          </a:p>
        </p:txBody>
      </p:sp>
      <p:sp>
        <p:nvSpPr>
          <p:cNvPr id="4" name="Shape 2"/>
          <p:cNvSpPr/>
          <p:nvPr/>
        </p:nvSpPr>
        <p:spPr>
          <a:xfrm>
            <a:off x="548640" y="1965960"/>
            <a:ext cx="3566160" cy="3200400"/>
          </a:xfrm>
          <a:prstGeom prst="roundRect">
            <a:avLst>
              <a:gd name="adj" fmla="val 2857"/>
            </a:avLst>
          </a:prstGeom>
          <a:solidFill>
            <a:srgbClr val="F3F5F8"/>
          </a:solidFill>
          <a:ln w="12700">
            <a:solidFill>
              <a:srgbClr val="F3F5F8"/>
            </a:solidFill>
            <a:prstDash val="solid"/>
          </a:ln>
        </p:spPr>
        <p:txBody>
          <a:bodyPr/>
          <a:lstStyle/>
          <a:p>
            <a:endParaRPr lang="en-US"/>
          </a:p>
        </p:txBody>
      </p:sp>
      <p:sp>
        <p:nvSpPr>
          <p:cNvPr id="5" name="Shape 3"/>
          <p:cNvSpPr/>
          <p:nvPr/>
        </p:nvSpPr>
        <p:spPr>
          <a:xfrm>
            <a:off x="822960" y="224028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3778" y="2381098"/>
            <a:ext cx="356616" cy="356616"/>
          </a:xfrm>
          <a:prstGeom prst="rect">
            <a:avLst/>
          </a:prstGeom>
        </p:spPr>
      </p:pic>
      <p:sp>
        <p:nvSpPr>
          <p:cNvPr id="7" name="Text 4"/>
          <p:cNvSpPr txBox="1"/>
          <p:nvPr/>
        </p:nvSpPr>
        <p:spPr>
          <a:xfrm>
            <a:off x="2926080" y="2286000"/>
            <a:ext cx="1005840" cy="292608"/>
          </a:xfrm>
          <a:prstGeom prst="rect">
            <a:avLst/>
          </a:prstGeom>
          <a:noFill/>
          <a:ln/>
        </p:spPr>
        <p:txBody>
          <a:bodyPr wrap="square" lIns="0" tIns="0" rIns="0" bIns="0" rtlCol="0" anchor="ctr"/>
          <a:lstStyle/>
          <a:p>
            <a:pPr marL="0" indent="0" algn="r">
              <a:buNone/>
            </a:pPr>
            <a:r>
              <a:rPr lang="en-US" sz="1050" b="1" kern="0" spc="200" dirty="0">
                <a:solidFill>
                  <a:srgbClr val="C77F12"/>
                </a:solidFill>
                <a:latin typeface="Calibri" pitchFamily="34" charset="0"/>
                <a:ea typeface="Calibri" pitchFamily="34" charset="-122"/>
                <a:cs typeface="Calibri" pitchFamily="34" charset="-120"/>
              </a:rPr>
              <a:t>Today</a:t>
            </a:r>
            <a:endParaRPr lang="en-US" sz="1050" dirty="0"/>
          </a:p>
        </p:txBody>
      </p:sp>
      <p:sp>
        <p:nvSpPr>
          <p:cNvPr id="8" name="Text 5"/>
          <p:cNvSpPr txBox="1"/>
          <p:nvPr/>
        </p:nvSpPr>
        <p:spPr>
          <a:xfrm>
            <a:off x="822960" y="301752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Built-in stand-in</a:t>
            </a:r>
            <a:endParaRPr lang="en-US" sz="1700" dirty="0"/>
          </a:p>
        </p:txBody>
      </p:sp>
      <p:sp>
        <p:nvSpPr>
          <p:cNvPr id="9" name="Text 6"/>
          <p:cNvSpPr txBox="1"/>
          <p:nvPr/>
        </p:nvSpPr>
        <p:spPr>
          <a:xfrm>
            <a:off x="822960" y="3429000"/>
            <a:ext cx="3017520" cy="146304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Default. Works offline, deterministic, needs no keys. Great for demos and tests.</a:t>
            </a:r>
            <a:endParaRPr lang="en-US" sz="1350" dirty="0"/>
          </a:p>
        </p:txBody>
      </p:sp>
      <p:sp>
        <p:nvSpPr>
          <p:cNvPr id="10" name="Shape 7"/>
          <p:cNvSpPr/>
          <p:nvPr/>
        </p:nvSpPr>
        <p:spPr>
          <a:xfrm>
            <a:off x="4315968" y="1965960"/>
            <a:ext cx="3566160" cy="3200400"/>
          </a:xfrm>
          <a:prstGeom prst="roundRect">
            <a:avLst>
              <a:gd name="adj" fmla="val 2857"/>
            </a:avLst>
          </a:prstGeom>
          <a:solidFill>
            <a:srgbClr val="F3F5F8"/>
          </a:solidFill>
          <a:ln w="12700">
            <a:solidFill>
              <a:srgbClr val="F3F5F8"/>
            </a:solidFill>
            <a:prstDash val="solid"/>
          </a:ln>
        </p:spPr>
        <p:txBody>
          <a:bodyPr/>
          <a:lstStyle/>
          <a:p>
            <a:endParaRPr lang="en-US"/>
          </a:p>
        </p:txBody>
      </p:sp>
      <p:sp>
        <p:nvSpPr>
          <p:cNvPr id="11" name="Shape 8"/>
          <p:cNvSpPr/>
          <p:nvPr/>
        </p:nvSpPr>
        <p:spPr>
          <a:xfrm>
            <a:off x="4590288" y="224028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731106" y="2381098"/>
            <a:ext cx="356616" cy="356616"/>
          </a:xfrm>
          <a:prstGeom prst="rect">
            <a:avLst/>
          </a:prstGeom>
        </p:spPr>
      </p:pic>
      <p:sp>
        <p:nvSpPr>
          <p:cNvPr id="13" name="Text 9"/>
          <p:cNvSpPr txBox="1"/>
          <p:nvPr/>
        </p:nvSpPr>
        <p:spPr>
          <a:xfrm>
            <a:off x="6693408" y="2286000"/>
            <a:ext cx="1005840" cy="292608"/>
          </a:xfrm>
          <a:prstGeom prst="rect">
            <a:avLst/>
          </a:prstGeom>
          <a:noFill/>
          <a:ln/>
        </p:spPr>
        <p:txBody>
          <a:bodyPr wrap="square" lIns="0" tIns="0" rIns="0" bIns="0" rtlCol="0" anchor="ctr"/>
          <a:lstStyle/>
          <a:p>
            <a:pPr marL="0" indent="0" algn="r">
              <a:buNone/>
            </a:pPr>
            <a:r>
              <a:rPr lang="en-US" sz="1050" b="1" kern="0" spc="200" dirty="0">
                <a:solidFill>
                  <a:srgbClr val="C77F12"/>
                </a:solidFill>
                <a:latin typeface="Calibri" pitchFamily="34" charset="0"/>
                <a:ea typeface="Calibri" pitchFamily="34" charset="-122"/>
                <a:cs typeface="Calibri" pitchFamily="34" charset="-120"/>
              </a:rPr>
              <a:t>Ready</a:t>
            </a:r>
            <a:endParaRPr lang="en-US" sz="1050" dirty="0"/>
          </a:p>
        </p:txBody>
      </p:sp>
      <p:sp>
        <p:nvSpPr>
          <p:cNvPr id="14" name="Text 10"/>
          <p:cNvSpPr txBox="1"/>
          <p:nvPr/>
        </p:nvSpPr>
        <p:spPr>
          <a:xfrm>
            <a:off x="4590288" y="3017520"/>
            <a:ext cx="301752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Local model (Ollama)</a:t>
            </a:r>
            <a:endParaRPr lang="en-US" sz="1700" dirty="0"/>
          </a:p>
        </p:txBody>
      </p:sp>
      <p:sp>
        <p:nvSpPr>
          <p:cNvPr id="15" name="Text 11"/>
          <p:cNvSpPr txBox="1"/>
          <p:nvPr/>
        </p:nvSpPr>
        <p:spPr>
          <a:xfrm>
            <a:off x="4590288" y="3429000"/>
            <a:ext cx="3017520" cy="146304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A real open model on a developer's GPU. Free-form questions, nothing leaves the machine.</a:t>
            </a:r>
            <a:endParaRPr lang="en-US" sz="1350" dirty="0"/>
          </a:p>
        </p:txBody>
      </p:sp>
      <p:sp>
        <p:nvSpPr>
          <p:cNvPr id="16" name="Shape 12"/>
          <p:cNvSpPr/>
          <p:nvPr/>
        </p:nvSpPr>
        <p:spPr>
          <a:xfrm>
            <a:off x="8083296" y="1965960"/>
            <a:ext cx="3566160" cy="3200400"/>
          </a:xfrm>
          <a:prstGeom prst="roundRect">
            <a:avLst>
              <a:gd name="adj" fmla="val 2857"/>
            </a:avLst>
          </a:prstGeom>
          <a:solidFill>
            <a:srgbClr val="13233A"/>
          </a:solidFill>
          <a:ln w="12700">
            <a:solidFill>
              <a:srgbClr val="13233A"/>
            </a:solidFill>
            <a:prstDash val="solid"/>
          </a:ln>
        </p:spPr>
        <p:txBody>
          <a:bodyPr/>
          <a:lstStyle/>
          <a:p>
            <a:endParaRPr lang="en-US"/>
          </a:p>
        </p:txBody>
      </p:sp>
      <p:sp>
        <p:nvSpPr>
          <p:cNvPr id="17" name="Shape 13"/>
          <p:cNvSpPr/>
          <p:nvPr/>
        </p:nvSpPr>
        <p:spPr>
          <a:xfrm>
            <a:off x="8357616" y="224028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98434" y="2381098"/>
            <a:ext cx="356616" cy="356616"/>
          </a:xfrm>
          <a:prstGeom prst="rect">
            <a:avLst/>
          </a:prstGeom>
        </p:spPr>
      </p:pic>
      <p:sp>
        <p:nvSpPr>
          <p:cNvPr id="19" name="Text 14"/>
          <p:cNvSpPr txBox="1"/>
          <p:nvPr/>
        </p:nvSpPr>
        <p:spPr>
          <a:xfrm>
            <a:off x="10460736" y="2286000"/>
            <a:ext cx="1005840" cy="292608"/>
          </a:xfrm>
          <a:prstGeom prst="rect">
            <a:avLst/>
          </a:prstGeom>
          <a:noFill/>
          <a:ln/>
        </p:spPr>
        <p:txBody>
          <a:bodyPr wrap="square" lIns="0" tIns="0" rIns="0" bIns="0" rtlCol="0" anchor="ctr"/>
          <a:lstStyle/>
          <a:p>
            <a:pPr marL="0" indent="0" algn="r">
              <a:buNone/>
            </a:pPr>
            <a:r>
              <a:rPr lang="en-US" sz="1050" b="1" kern="0" spc="200" dirty="0">
                <a:solidFill>
                  <a:srgbClr val="F0A429"/>
                </a:solidFill>
                <a:latin typeface="Calibri" pitchFamily="34" charset="0"/>
                <a:ea typeface="Calibri" pitchFamily="34" charset="-122"/>
                <a:cs typeface="Calibri" pitchFamily="34" charset="-120"/>
              </a:rPr>
              <a:t>Ready</a:t>
            </a:r>
            <a:endParaRPr lang="en-US" sz="1050" dirty="0"/>
          </a:p>
        </p:txBody>
      </p:sp>
      <p:sp>
        <p:nvSpPr>
          <p:cNvPr id="20" name="Text 15"/>
          <p:cNvSpPr txBox="1"/>
          <p:nvPr/>
        </p:nvSpPr>
        <p:spPr>
          <a:xfrm>
            <a:off x="8357616" y="3017520"/>
            <a:ext cx="301752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Azure OpenAI</a:t>
            </a:r>
            <a:endParaRPr lang="en-US" sz="1700" dirty="0"/>
          </a:p>
        </p:txBody>
      </p:sp>
      <p:sp>
        <p:nvSpPr>
          <p:cNvPr id="21" name="Text 16"/>
          <p:cNvSpPr txBox="1"/>
          <p:nvPr/>
        </p:nvSpPr>
        <p:spPr>
          <a:xfrm>
            <a:off x="8357616" y="3429000"/>
            <a:ext cx="3017520" cy="1463040"/>
          </a:xfrm>
          <a:prstGeom prst="rect">
            <a:avLst/>
          </a:prstGeom>
          <a:noFill/>
          <a:ln/>
        </p:spPr>
        <p:txBody>
          <a:bodyPr wrap="square" lIns="0" tIns="0" rIns="0" bIns="0" rtlCol="0" anchor="t"/>
          <a:lstStyle/>
          <a:p>
            <a:pPr marL="0" indent="0">
              <a:buNone/>
            </a:pPr>
            <a:r>
              <a:rPr lang="en-US" sz="1350" dirty="0">
                <a:solidFill>
                  <a:srgbClr val="C9D4E1"/>
                </a:solidFill>
                <a:latin typeface="Calibri" pitchFamily="34" charset="0"/>
                <a:ea typeface="Calibri" pitchFamily="34" charset="-122"/>
                <a:cs typeface="Calibri" pitchFamily="34" charset="-120"/>
              </a:rPr>
              <a:t>Managed model, Entra ID auth, no keys. What the Azure deployment uses.</a:t>
            </a:r>
            <a:endParaRPr lang="en-US" sz="1350" dirty="0"/>
          </a:p>
        </p:txBody>
      </p:sp>
      <p:sp>
        <p:nvSpPr>
          <p:cNvPr id="22" name="Text 17"/>
          <p:cNvSpPr txBox="1"/>
          <p:nvPr/>
        </p:nvSpPr>
        <p:spPr>
          <a:xfrm>
            <a:off x="548640" y="5440680"/>
            <a:ext cx="10972800" cy="411480"/>
          </a:xfrm>
          <a:prstGeom prst="rect">
            <a:avLst/>
          </a:prstGeom>
          <a:noFill/>
          <a:ln/>
        </p:spPr>
        <p:txBody>
          <a:bodyPr wrap="square" lIns="0" tIns="0" rIns="0" bIns="0" rtlCol="0" anchor="ctr"/>
          <a:lstStyle/>
          <a:p>
            <a:pPr marL="0" indent="0">
              <a:buNone/>
            </a:pPr>
            <a:r>
              <a:rPr lang="en-US" sz="1400" i="1" dirty="0">
                <a:solidFill>
                  <a:srgbClr val="1B2430"/>
                </a:solidFill>
                <a:latin typeface="Calibri" pitchFamily="34" charset="0"/>
                <a:ea typeface="Calibri" pitchFamily="34" charset="-122"/>
                <a:cs typeface="Calibri" pitchFamily="34" charset="-120"/>
              </a:rPr>
              <a:t>Whichever we pick, the prompts, the safety checks and the screens do not change.</a:t>
            </a:r>
            <a:endParaRPr lang="en-US" sz="1400" dirty="0"/>
          </a:p>
        </p:txBody>
      </p:sp>
      <p:sp>
        <p:nvSpPr>
          <p:cNvPr id="23" name="Text 18"/>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33A"/>
        </a:solidFill>
        <a:effectLst/>
      </p:bgPr>
    </p:bg>
    <p:spTree>
      <p:nvGrpSpPr>
        <p:cNvPr id="1" name=""/>
        <p:cNvGrpSpPr/>
        <p:nvPr/>
      </p:nvGrpSpPr>
      <p:grpSpPr>
        <a:xfrm>
          <a:off x="0" y="0"/>
          <a:ext cx="0" cy="0"/>
          <a:chOff x="0" y="0"/>
          <a:chExt cx="0" cy="0"/>
        </a:xfrm>
      </p:grpSpPr>
      <p:sp>
        <p:nvSpPr>
          <p:cNvPr id="2" name="Shape 0"/>
          <p:cNvSpPr/>
          <p:nvPr/>
        </p:nvSpPr>
        <p:spPr>
          <a:xfrm>
            <a:off x="8412480" y="-1463040"/>
            <a:ext cx="5852160" cy="5852160"/>
          </a:xfrm>
          <a:prstGeom prst="ellipse">
            <a:avLst/>
          </a:prstGeom>
          <a:solidFill>
            <a:srgbClr val="1E3556"/>
          </a:solidFill>
          <a:ln w="12700">
            <a:solidFill>
              <a:srgbClr val="1E3556"/>
            </a:solidFill>
            <a:prstDash val="solid"/>
          </a:ln>
        </p:spPr>
        <p:txBody>
          <a:bodyPr/>
          <a:lstStyle/>
          <a:p>
            <a:endParaRPr lang="en-US"/>
          </a:p>
        </p:txBody>
      </p:sp>
      <p:sp>
        <p:nvSpPr>
          <p:cNvPr id="3" name="Shape 1"/>
          <p:cNvSpPr/>
          <p:nvPr/>
        </p:nvSpPr>
        <p:spPr>
          <a:xfrm>
            <a:off x="9966960" y="3931920"/>
            <a:ext cx="2011680" cy="2011680"/>
          </a:xfrm>
          <a:prstGeom prst="ellipse">
            <a:avLst/>
          </a:prstGeom>
          <a:solidFill>
            <a:srgbClr val="F0A429"/>
          </a:solidFill>
          <a:ln w="12700">
            <a:solidFill>
              <a:srgbClr val="F0A429"/>
            </a:solidFill>
            <a:prstDash val="solid"/>
          </a:ln>
        </p:spPr>
        <p:txBody>
          <a:bodyPr/>
          <a:lstStyle/>
          <a:p>
            <a:endParaRPr lang="en-US"/>
          </a:p>
        </p:txBody>
      </p:sp>
      <p:sp>
        <p:nvSpPr>
          <p:cNvPr id="4" name="Text 2"/>
          <p:cNvSpPr txBox="1"/>
          <p:nvPr/>
        </p:nvSpPr>
        <p:spPr>
          <a:xfrm>
            <a:off x="731520" y="1920240"/>
            <a:ext cx="7315200" cy="365760"/>
          </a:xfrm>
          <a:prstGeom prst="rect">
            <a:avLst/>
          </a:prstGeom>
          <a:noFill/>
          <a:ln/>
        </p:spPr>
        <p:txBody>
          <a:bodyPr wrap="square" lIns="0" tIns="0" rIns="0" bIns="0" rtlCol="0" anchor="ctr"/>
          <a:lstStyle/>
          <a:p>
            <a:pPr marL="0" indent="0">
              <a:buNone/>
            </a:pPr>
            <a:r>
              <a:rPr lang="en-US" sz="1400" b="1" kern="0" spc="400" dirty="0">
                <a:solidFill>
                  <a:srgbClr val="F0A429"/>
                </a:solidFill>
                <a:latin typeface="Calibri" pitchFamily="34" charset="0"/>
                <a:ea typeface="Calibri" pitchFamily="34" charset="-122"/>
                <a:cs typeface="Calibri" pitchFamily="34" charset="-120"/>
              </a:rPr>
              <a:t>CHAPTER 4</a:t>
            </a:r>
            <a:endParaRPr lang="en-US" sz="1400" dirty="0"/>
          </a:p>
        </p:txBody>
      </p:sp>
      <p:sp>
        <p:nvSpPr>
          <p:cNvPr id="5" name="Text 3"/>
          <p:cNvSpPr txBox="1"/>
          <p:nvPr/>
        </p:nvSpPr>
        <p:spPr>
          <a:xfrm>
            <a:off x="731520" y="2286000"/>
            <a:ext cx="7772400" cy="118872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The data side</a:t>
            </a:r>
            <a:endParaRPr lang="en-US" sz="4800" dirty="0"/>
          </a:p>
        </p:txBody>
      </p:sp>
      <p:sp>
        <p:nvSpPr>
          <p:cNvPr id="6" name="Text 4"/>
          <p:cNvSpPr txBox="1"/>
          <p:nvPr/>
        </p:nvSpPr>
        <p:spPr>
          <a:xfrm>
            <a:off x="731520" y="3520440"/>
            <a:ext cx="7315200" cy="731520"/>
          </a:xfrm>
          <a:prstGeom prst="rect">
            <a:avLst/>
          </a:prstGeom>
          <a:noFill/>
          <a:ln/>
        </p:spPr>
        <p:txBody>
          <a:bodyPr wrap="square" lIns="0" tIns="0" rIns="0" bIns="0" rtlCol="0" anchor="ctr"/>
          <a:lstStyle/>
          <a:p>
            <a:pPr marL="0" indent="0">
              <a:buNone/>
            </a:pPr>
            <a:r>
              <a:rPr lang="en-US" sz="1800" dirty="0">
                <a:solidFill>
                  <a:srgbClr val="C9D4E1"/>
                </a:solidFill>
                <a:latin typeface="Calibri" pitchFamily="34" charset="0"/>
                <a:ea typeface="Calibri" pitchFamily="34" charset="-122"/>
                <a:cs typeface="Calibri" pitchFamily="34" charset="-120"/>
              </a:rPr>
              <a:t>Where it comes from, how the app uses it, how we keep it safe.</a:t>
            </a:r>
            <a:endParaRPr lang="en-US" sz="1800" dirty="0"/>
          </a:p>
        </p:txBody>
      </p:sp>
      <p:sp>
        <p:nvSpPr>
          <p:cNvPr id="7" name="Text 5"/>
          <p:cNvSpPr txBox="1"/>
          <p:nvPr/>
        </p:nvSpPr>
        <p:spPr>
          <a:xfrm>
            <a:off x="731520" y="4297680"/>
            <a:ext cx="7315200" cy="365760"/>
          </a:xfrm>
          <a:prstGeom prst="rect">
            <a:avLst/>
          </a:prstGeom>
          <a:noFill/>
          <a:ln/>
        </p:spPr>
        <p:txBody>
          <a:bodyPr wrap="square" lIns="0" tIns="0" rIns="0" bIns="0" rtlCol="0" anchor="ctr"/>
          <a:lstStyle/>
          <a:p>
            <a:pPr marL="0" indent="0">
              <a:buNone/>
            </a:pPr>
            <a:endParaRPr lang="en-US" sz="1400" dirty="0"/>
          </a:p>
        </p:txBody>
      </p:sp>
      <p:sp>
        <p:nvSpPr>
          <p:cNvPr id="8" name="Text 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8FA3BA"/>
                </a:solidFill>
                <a:latin typeface="Calibri" pitchFamily="34" charset="0"/>
                <a:ea typeface="Calibri" pitchFamily="34" charset="-122"/>
                <a:cs typeface="Calibri" pitchFamily="34" charset="-120"/>
              </a:rPr>
              <a:t>Invoice Portal Admin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Where the data comes from</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A faithful copy of production, made safe for a laptop.</a:t>
            </a:r>
            <a:endParaRPr lang="en-US" sz="1600" dirty="0"/>
          </a:p>
        </p:txBody>
      </p:sp>
      <p:sp>
        <p:nvSpPr>
          <p:cNvPr id="4" name="Shape 2"/>
          <p:cNvSpPr/>
          <p:nvPr/>
        </p:nvSpPr>
        <p:spPr>
          <a:xfrm>
            <a:off x="548640" y="2011680"/>
            <a:ext cx="2606040" cy="3017520"/>
          </a:xfrm>
          <a:prstGeom prst="roundRect">
            <a:avLst>
              <a:gd name="adj" fmla="val 3509"/>
            </a:avLst>
          </a:prstGeom>
          <a:solidFill>
            <a:srgbClr val="F3F5F8"/>
          </a:solidFill>
          <a:ln w="12700">
            <a:solidFill>
              <a:srgbClr val="F3F5F8"/>
            </a:solidFill>
            <a:prstDash val="solid"/>
          </a:ln>
        </p:spPr>
        <p:txBody>
          <a:bodyPr/>
          <a:lstStyle/>
          <a:p>
            <a:endParaRPr lang="en-US"/>
          </a:p>
        </p:txBody>
      </p:sp>
      <p:sp>
        <p:nvSpPr>
          <p:cNvPr id="5" name="Shape 3"/>
          <p:cNvSpPr/>
          <p:nvPr/>
        </p:nvSpPr>
        <p:spPr>
          <a:xfrm>
            <a:off x="822960" y="228600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3778" y="2426818"/>
            <a:ext cx="358445" cy="358445"/>
          </a:xfrm>
          <a:prstGeom prst="rect">
            <a:avLst/>
          </a:prstGeom>
        </p:spPr>
      </p:pic>
      <p:sp>
        <p:nvSpPr>
          <p:cNvPr id="7" name="Text 4"/>
          <p:cNvSpPr txBox="1"/>
          <p:nvPr/>
        </p:nvSpPr>
        <p:spPr>
          <a:xfrm>
            <a:off x="822960" y="3063240"/>
            <a:ext cx="205740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Production backup</a:t>
            </a:r>
            <a:endParaRPr lang="en-US" sz="1700" dirty="0"/>
          </a:p>
        </p:txBody>
      </p:sp>
      <p:sp>
        <p:nvSpPr>
          <p:cNvPr id="8" name="Text 5"/>
          <p:cNvSpPr txBox="1"/>
          <p:nvPr/>
        </p:nvSpPr>
        <p:spPr>
          <a:xfrm>
            <a:off x="822960" y="3474720"/>
            <a:ext cx="2057400" cy="137160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A standard Azure SQL export file, copied once.</a:t>
            </a:r>
            <a:endParaRPr lang="en-US" sz="1350" dirty="0"/>
          </a:p>
        </p:txBody>
      </p:sp>
      <p:sp>
        <p:nvSpPr>
          <p:cNvPr id="9" name="Shape 6"/>
          <p:cNvSpPr/>
          <p:nvPr/>
        </p:nvSpPr>
        <p:spPr>
          <a:xfrm>
            <a:off x="3200400" y="3383280"/>
            <a:ext cx="274320" cy="237744"/>
          </a:xfrm>
          <a:prstGeom prst="rightArrow">
            <a:avLst/>
          </a:prstGeom>
          <a:solidFill>
            <a:srgbClr val="B8C2CE"/>
          </a:solidFill>
          <a:ln w="12700">
            <a:solidFill>
              <a:srgbClr val="B8C2CE"/>
            </a:solidFill>
            <a:prstDash val="solid"/>
          </a:ln>
        </p:spPr>
        <p:txBody>
          <a:bodyPr/>
          <a:lstStyle/>
          <a:p>
            <a:endParaRPr lang="en-US"/>
          </a:p>
        </p:txBody>
      </p:sp>
      <p:sp>
        <p:nvSpPr>
          <p:cNvPr id="10" name="Shape 7"/>
          <p:cNvSpPr/>
          <p:nvPr/>
        </p:nvSpPr>
        <p:spPr>
          <a:xfrm>
            <a:off x="3474720" y="2011680"/>
            <a:ext cx="2606040" cy="3017520"/>
          </a:xfrm>
          <a:prstGeom prst="roundRect">
            <a:avLst>
              <a:gd name="adj" fmla="val 3509"/>
            </a:avLst>
          </a:prstGeom>
          <a:solidFill>
            <a:srgbClr val="F3F5F8"/>
          </a:solidFill>
          <a:ln w="12700">
            <a:solidFill>
              <a:srgbClr val="F3F5F8"/>
            </a:solidFill>
            <a:prstDash val="solid"/>
          </a:ln>
        </p:spPr>
        <p:txBody>
          <a:bodyPr/>
          <a:lstStyle/>
          <a:p>
            <a:endParaRPr lang="en-US"/>
          </a:p>
        </p:txBody>
      </p:sp>
      <p:sp>
        <p:nvSpPr>
          <p:cNvPr id="11" name="Shape 8"/>
          <p:cNvSpPr/>
          <p:nvPr/>
        </p:nvSpPr>
        <p:spPr>
          <a:xfrm>
            <a:off x="3749040" y="228600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889858" y="2426818"/>
            <a:ext cx="358445" cy="358445"/>
          </a:xfrm>
          <a:prstGeom prst="rect">
            <a:avLst/>
          </a:prstGeom>
        </p:spPr>
      </p:pic>
      <p:sp>
        <p:nvSpPr>
          <p:cNvPr id="13" name="Text 9"/>
          <p:cNvSpPr txBox="1"/>
          <p:nvPr/>
        </p:nvSpPr>
        <p:spPr>
          <a:xfrm>
            <a:off x="3749040" y="3063240"/>
            <a:ext cx="205740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Cleaned up</a:t>
            </a:r>
            <a:endParaRPr lang="en-US" sz="1700" dirty="0"/>
          </a:p>
        </p:txBody>
      </p:sp>
      <p:sp>
        <p:nvSpPr>
          <p:cNvPr id="14" name="Text 10"/>
          <p:cNvSpPr txBox="1"/>
          <p:nvPr/>
        </p:nvSpPr>
        <p:spPr>
          <a:xfrm>
            <a:off x="3749040" y="3474720"/>
            <a:ext cx="2057400" cy="137160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Cloud-only pieces (identity users, encryption flags) are stripped from a copy. The original is untouched.</a:t>
            </a:r>
            <a:endParaRPr lang="en-US" sz="1350" dirty="0"/>
          </a:p>
        </p:txBody>
      </p:sp>
      <p:sp>
        <p:nvSpPr>
          <p:cNvPr id="15" name="Shape 11"/>
          <p:cNvSpPr/>
          <p:nvPr/>
        </p:nvSpPr>
        <p:spPr>
          <a:xfrm>
            <a:off x="6126480" y="3383280"/>
            <a:ext cx="274320" cy="237744"/>
          </a:xfrm>
          <a:prstGeom prst="rightArrow">
            <a:avLst/>
          </a:prstGeom>
          <a:solidFill>
            <a:srgbClr val="B8C2CE"/>
          </a:solidFill>
          <a:ln w="12700">
            <a:solidFill>
              <a:srgbClr val="B8C2CE"/>
            </a:solidFill>
            <a:prstDash val="solid"/>
          </a:ln>
        </p:spPr>
        <p:txBody>
          <a:bodyPr/>
          <a:lstStyle/>
          <a:p>
            <a:endParaRPr lang="en-US"/>
          </a:p>
        </p:txBody>
      </p:sp>
      <p:sp>
        <p:nvSpPr>
          <p:cNvPr id="16" name="Shape 12"/>
          <p:cNvSpPr/>
          <p:nvPr/>
        </p:nvSpPr>
        <p:spPr>
          <a:xfrm>
            <a:off x="6400800" y="2011680"/>
            <a:ext cx="2606040" cy="3017520"/>
          </a:xfrm>
          <a:prstGeom prst="roundRect">
            <a:avLst>
              <a:gd name="adj" fmla="val 3509"/>
            </a:avLst>
          </a:prstGeom>
          <a:solidFill>
            <a:srgbClr val="F3F5F8"/>
          </a:solidFill>
          <a:ln w="12700">
            <a:solidFill>
              <a:srgbClr val="F3F5F8"/>
            </a:solidFill>
            <a:prstDash val="solid"/>
          </a:ln>
        </p:spPr>
        <p:txBody>
          <a:bodyPr/>
          <a:lstStyle/>
          <a:p>
            <a:endParaRPr lang="en-US"/>
          </a:p>
        </p:txBody>
      </p:sp>
      <p:sp>
        <p:nvSpPr>
          <p:cNvPr id="17" name="Shape 13"/>
          <p:cNvSpPr/>
          <p:nvPr/>
        </p:nvSpPr>
        <p:spPr>
          <a:xfrm>
            <a:off x="6675120" y="228600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815938" y="2426818"/>
            <a:ext cx="358445" cy="358445"/>
          </a:xfrm>
          <a:prstGeom prst="rect">
            <a:avLst/>
          </a:prstGeom>
        </p:spPr>
      </p:pic>
      <p:sp>
        <p:nvSpPr>
          <p:cNvPr id="19" name="Text 14"/>
          <p:cNvSpPr txBox="1"/>
          <p:nvPr/>
        </p:nvSpPr>
        <p:spPr>
          <a:xfrm>
            <a:off x="6675120" y="3063240"/>
            <a:ext cx="205740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Restored locally</a:t>
            </a:r>
            <a:endParaRPr lang="en-US" sz="1700" dirty="0"/>
          </a:p>
        </p:txBody>
      </p:sp>
      <p:sp>
        <p:nvSpPr>
          <p:cNvPr id="20" name="Text 15"/>
          <p:cNvSpPr txBox="1"/>
          <p:nvPr/>
        </p:nvSpPr>
        <p:spPr>
          <a:xfrm>
            <a:off x="6675120" y="3474720"/>
            <a:ext cx="2057400" cy="137160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Into SQL Server Express in Docker. About a minute for 744,000 rows.</a:t>
            </a:r>
            <a:endParaRPr lang="en-US" sz="1350" dirty="0"/>
          </a:p>
        </p:txBody>
      </p:sp>
      <p:sp>
        <p:nvSpPr>
          <p:cNvPr id="21" name="Shape 16"/>
          <p:cNvSpPr/>
          <p:nvPr/>
        </p:nvSpPr>
        <p:spPr>
          <a:xfrm>
            <a:off x="9052560" y="3383280"/>
            <a:ext cx="274320" cy="237744"/>
          </a:xfrm>
          <a:prstGeom prst="rightArrow">
            <a:avLst/>
          </a:prstGeom>
          <a:solidFill>
            <a:srgbClr val="B8C2CE"/>
          </a:solidFill>
          <a:ln w="12700">
            <a:solidFill>
              <a:srgbClr val="B8C2CE"/>
            </a:solidFill>
            <a:prstDash val="solid"/>
          </a:ln>
        </p:spPr>
        <p:txBody>
          <a:bodyPr/>
          <a:lstStyle/>
          <a:p>
            <a:endParaRPr lang="en-US"/>
          </a:p>
        </p:txBody>
      </p:sp>
      <p:sp>
        <p:nvSpPr>
          <p:cNvPr id="22" name="Shape 17"/>
          <p:cNvSpPr/>
          <p:nvPr/>
        </p:nvSpPr>
        <p:spPr>
          <a:xfrm>
            <a:off x="9326880" y="2011680"/>
            <a:ext cx="2606040" cy="3017520"/>
          </a:xfrm>
          <a:prstGeom prst="roundRect">
            <a:avLst>
              <a:gd name="adj" fmla="val 3509"/>
            </a:avLst>
          </a:prstGeom>
          <a:solidFill>
            <a:srgbClr val="F3F5F8"/>
          </a:solidFill>
          <a:ln w="12700">
            <a:solidFill>
              <a:srgbClr val="F3F5F8"/>
            </a:solidFill>
            <a:prstDash val="solid"/>
          </a:ln>
        </p:spPr>
        <p:txBody>
          <a:bodyPr/>
          <a:lstStyle/>
          <a:p>
            <a:endParaRPr lang="en-US"/>
          </a:p>
        </p:txBody>
      </p:sp>
      <p:sp>
        <p:nvSpPr>
          <p:cNvPr id="23" name="Shape 18"/>
          <p:cNvSpPr/>
          <p:nvPr/>
        </p:nvSpPr>
        <p:spPr>
          <a:xfrm>
            <a:off x="9601200" y="228600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742018" y="2426818"/>
            <a:ext cx="358445" cy="358445"/>
          </a:xfrm>
          <a:prstGeom prst="rect">
            <a:avLst/>
          </a:prstGeom>
        </p:spPr>
      </p:pic>
      <p:sp>
        <p:nvSpPr>
          <p:cNvPr id="25" name="Text 19"/>
          <p:cNvSpPr txBox="1"/>
          <p:nvPr/>
        </p:nvSpPr>
        <p:spPr>
          <a:xfrm>
            <a:off x="9601200" y="3063240"/>
            <a:ext cx="205740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Reset any time</a:t>
            </a:r>
            <a:endParaRPr lang="en-US" sz="1700" dirty="0"/>
          </a:p>
        </p:txBody>
      </p:sp>
      <p:sp>
        <p:nvSpPr>
          <p:cNvPr id="26" name="Text 20"/>
          <p:cNvSpPr txBox="1"/>
          <p:nvPr/>
        </p:nvSpPr>
        <p:spPr>
          <a:xfrm>
            <a:off x="9601200" y="3474720"/>
            <a:ext cx="2057400" cy="137160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Throw the container away and it rebuilds itself from the backup.</a:t>
            </a:r>
            <a:endParaRPr lang="en-US" sz="1350" dirty="0"/>
          </a:p>
        </p:txBody>
      </p:sp>
      <p:sp>
        <p:nvSpPr>
          <p:cNvPr id="27" name="Text 21"/>
          <p:cNvSpPr txBox="1"/>
          <p:nvPr/>
        </p:nvSpPr>
        <p:spPr>
          <a:xfrm>
            <a:off x="548640" y="5349240"/>
            <a:ext cx="10972800" cy="548640"/>
          </a:xfrm>
          <a:prstGeom prst="rect">
            <a:avLst/>
          </a:prstGeom>
          <a:noFill/>
          <a:ln/>
        </p:spPr>
        <p:txBody>
          <a:bodyPr wrap="square" lIns="0" tIns="0" rIns="0" bIns="0" rtlCol="0" anchor="ctr"/>
          <a:lstStyle/>
          <a:p>
            <a:pPr marL="0" indent="0">
              <a:buNone/>
            </a:pPr>
            <a:r>
              <a:rPr lang="en-US" sz="1300" i="1" dirty="0">
                <a:solidFill>
                  <a:srgbClr val="6C7A8A"/>
                </a:solidFill>
                <a:latin typeface="Calibri" pitchFamily="34" charset="0"/>
                <a:ea typeface="Calibri" pitchFamily="34" charset="-122"/>
                <a:cs typeface="Calibri" pitchFamily="34" charset="-120"/>
              </a:rPr>
              <a:t>It runs once. If the database already exists, it does nothing. If a restore fails halfway, it cleans up so the next run can try again.</a:t>
            </a:r>
            <a:endParaRPr lang="en-US" sz="1300" dirty="0"/>
          </a:p>
        </p:txBody>
      </p:sp>
      <p:sp>
        <p:nvSpPr>
          <p:cNvPr id="28" name="Text 22"/>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How the app talks to the database</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Generated model, short conversations, nothing destructive.</a:t>
            </a:r>
            <a:endParaRPr lang="en-US" sz="1600" dirty="0"/>
          </a:p>
        </p:txBody>
      </p:sp>
      <p:sp>
        <p:nvSpPr>
          <p:cNvPr id="4" name="Shape 2"/>
          <p:cNvSpPr/>
          <p:nvPr/>
        </p:nvSpPr>
        <p:spPr>
          <a:xfrm>
            <a:off x="548640" y="1920240"/>
            <a:ext cx="5440680" cy="2011680"/>
          </a:xfrm>
          <a:prstGeom prst="roundRect">
            <a:avLst>
              <a:gd name="adj" fmla="val 4545"/>
            </a:avLst>
          </a:prstGeom>
          <a:solidFill>
            <a:srgbClr val="F3F5F8"/>
          </a:solidFill>
          <a:ln w="12700">
            <a:solidFill>
              <a:srgbClr val="F3F5F8"/>
            </a:solidFill>
            <a:prstDash val="solid"/>
          </a:ln>
        </p:spPr>
        <p:txBody>
          <a:bodyPr/>
          <a:lstStyle/>
          <a:p>
            <a:endParaRPr lang="en-US"/>
          </a:p>
        </p:txBody>
      </p:sp>
      <p:sp>
        <p:nvSpPr>
          <p:cNvPr id="5" name="Shape 3"/>
          <p:cNvSpPr/>
          <p:nvPr/>
        </p:nvSpPr>
        <p:spPr>
          <a:xfrm>
            <a:off x="822960" y="219456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63778" y="2335378"/>
            <a:ext cx="358445" cy="358445"/>
          </a:xfrm>
          <a:prstGeom prst="rect">
            <a:avLst/>
          </a:prstGeom>
        </p:spPr>
      </p:pic>
      <p:sp>
        <p:nvSpPr>
          <p:cNvPr id="7" name="Text 4"/>
          <p:cNvSpPr txBox="1"/>
          <p:nvPr/>
        </p:nvSpPr>
        <p:spPr>
          <a:xfrm>
            <a:off x="822960" y="2971800"/>
            <a:ext cx="489204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Model generated from the schema</a:t>
            </a:r>
            <a:endParaRPr lang="en-US" sz="1700" dirty="0"/>
          </a:p>
        </p:txBody>
      </p:sp>
      <p:sp>
        <p:nvSpPr>
          <p:cNvPr id="8" name="Text 5"/>
          <p:cNvSpPr txBox="1"/>
          <p:nvPr/>
        </p:nvSpPr>
        <p:spPr>
          <a:xfrm>
            <a:off x="822960" y="3383280"/>
            <a:ext cx="4892040" cy="36576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Nine tables the UI needs, generated straight from the database. Schema changes mean regenerate, not retype.</a:t>
            </a:r>
            <a:endParaRPr lang="en-US" sz="1350" dirty="0"/>
          </a:p>
        </p:txBody>
      </p:sp>
      <p:sp>
        <p:nvSpPr>
          <p:cNvPr id="9" name="Shape 6"/>
          <p:cNvSpPr/>
          <p:nvPr/>
        </p:nvSpPr>
        <p:spPr>
          <a:xfrm>
            <a:off x="6217920" y="1920240"/>
            <a:ext cx="5440680" cy="2011680"/>
          </a:xfrm>
          <a:prstGeom prst="roundRect">
            <a:avLst>
              <a:gd name="adj" fmla="val 4545"/>
            </a:avLst>
          </a:prstGeom>
          <a:solidFill>
            <a:srgbClr val="F3F5F8"/>
          </a:solidFill>
          <a:ln w="12700">
            <a:solidFill>
              <a:srgbClr val="F3F5F8"/>
            </a:solidFill>
            <a:prstDash val="solid"/>
          </a:ln>
        </p:spPr>
        <p:txBody>
          <a:bodyPr/>
          <a:lstStyle/>
          <a:p>
            <a:endParaRPr lang="en-US"/>
          </a:p>
        </p:txBody>
      </p:sp>
      <p:sp>
        <p:nvSpPr>
          <p:cNvPr id="10" name="Shape 7"/>
          <p:cNvSpPr/>
          <p:nvPr/>
        </p:nvSpPr>
        <p:spPr>
          <a:xfrm>
            <a:off x="6492240" y="219456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633058" y="2335378"/>
            <a:ext cx="358445" cy="358445"/>
          </a:xfrm>
          <a:prstGeom prst="rect">
            <a:avLst/>
          </a:prstGeom>
        </p:spPr>
      </p:pic>
      <p:sp>
        <p:nvSpPr>
          <p:cNvPr id="12" name="Text 8"/>
          <p:cNvSpPr txBox="1"/>
          <p:nvPr/>
        </p:nvSpPr>
        <p:spPr>
          <a:xfrm>
            <a:off x="6492240" y="2971800"/>
            <a:ext cx="489204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Short-lived connections</a:t>
            </a:r>
            <a:endParaRPr lang="en-US" sz="1700" dirty="0"/>
          </a:p>
        </p:txBody>
      </p:sp>
      <p:sp>
        <p:nvSpPr>
          <p:cNvPr id="13" name="Text 9"/>
          <p:cNvSpPr txBox="1"/>
          <p:nvPr/>
        </p:nvSpPr>
        <p:spPr>
          <a:xfrm>
            <a:off x="6492240" y="3383280"/>
            <a:ext cx="4892040" cy="36576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Every screen action opens a connection, does its work and closes it. No long-lived sessions hogging the server.</a:t>
            </a:r>
            <a:endParaRPr lang="en-US" sz="1350" dirty="0"/>
          </a:p>
        </p:txBody>
      </p:sp>
      <p:sp>
        <p:nvSpPr>
          <p:cNvPr id="14" name="Shape 10"/>
          <p:cNvSpPr/>
          <p:nvPr/>
        </p:nvSpPr>
        <p:spPr>
          <a:xfrm>
            <a:off x="548640" y="4069080"/>
            <a:ext cx="5440680" cy="2011680"/>
          </a:xfrm>
          <a:prstGeom prst="roundRect">
            <a:avLst>
              <a:gd name="adj" fmla="val 4545"/>
            </a:avLst>
          </a:prstGeom>
          <a:solidFill>
            <a:srgbClr val="F3F5F8"/>
          </a:solidFill>
          <a:ln w="12700">
            <a:solidFill>
              <a:srgbClr val="F3F5F8"/>
            </a:solidFill>
            <a:prstDash val="solid"/>
          </a:ln>
        </p:spPr>
        <p:txBody>
          <a:bodyPr/>
          <a:lstStyle/>
          <a:p>
            <a:endParaRPr lang="en-US"/>
          </a:p>
        </p:txBody>
      </p:sp>
      <p:sp>
        <p:nvSpPr>
          <p:cNvPr id="15" name="Shape 11"/>
          <p:cNvSpPr/>
          <p:nvPr/>
        </p:nvSpPr>
        <p:spPr>
          <a:xfrm>
            <a:off x="822960" y="434340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963778" y="4484218"/>
            <a:ext cx="358445" cy="358445"/>
          </a:xfrm>
          <a:prstGeom prst="rect">
            <a:avLst/>
          </a:prstGeom>
        </p:spPr>
      </p:pic>
      <p:sp>
        <p:nvSpPr>
          <p:cNvPr id="17" name="Text 12"/>
          <p:cNvSpPr txBox="1"/>
          <p:nvPr/>
        </p:nvSpPr>
        <p:spPr>
          <a:xfrm>
            <a:off x="822960" y="5120640"/>
            <a:ext cx="489204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Soft delete and audit</a:t>
            </a:r>
            <a:endParaRPr lang="en-US" sz="1700" dirty="0"/>
          </a:p>
        </p:txBody>
      </p:sp>
      <p:sp>
        <p:nvSpPr>
          <p:cNvPr id="18" name="Text 13"/>
          <p:cNvSpPr txBox="1"/>
          <p:nvPr/>
        </p:nvSpPr>
        <p:spPr>
          <a:xfrm>
            <a:off x="822960" y="5532120"/>
            <a:ext cx="4892040" cy="36576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Deletes flip a flag. Created and updated timestamps are set automatically. History is preserved.</a:t>
            </a:r>
            <a:endParaRPr lang="en-US" sz="1350" dirty="0"/>
          </a:p>
        </p:txBody>
      </p:sp>
      <p:sp>
        <p:nvSpPr>
          <p:cNvPr id="19" name="Shape 14"/>
          <p:cNvSpPr/>
          <p:nvPr/>
        </p:nvSpPr>
        <p:spPr>
          <a:xfrm>
            <a:off x="6217920" y="4069080"/>
            <a:ext cx="5440680" cy="2011680"/>
          </a:xfrm>
          <a:prstGeom prst="roundRect">
            <a:avLst>
              <a:gd name="adj" fmla="val 4545"/>
            </a:avLst>
          </a:prstGeom>
          <a:solidFill>
            <a:srgbClr val="F3F5F8"/>
          </a:solidFill>
          <a:ln w="12700">
            <a:solidFill>
              <a:srgbClr val="F3F5F8"/>
            </a:solidFill>
            <a:prstDash val="solid"/>
          </a:ln>
        </p:spPr>
        <p:txBody>
          <a:bodyPr/>
          <a:lstStyle/>
          <a:p>
            <a:endParaRPr lang="en-US"/>
          </a:p>
        </p:txBody>
      </p:sp>
      <p:sp>
        <p:nvSpPr>
          <p:cNvPr id="20" name="Shape 15"/>
          <p:cNvSpPr/>
          <p:nvPr/>
        </p:nvSpPr>
        <p:spPr>
          <a:xfrm>
            <a:off x="6492240" y="4343400"/>
            <a:ext cx="640080" cy="640080"/>
          </a:xfrm>
          <a:prstGeom prst="ellipse">
            <a:avLst/>
          </a:prstGeom>
          <a:solidFill>
            <a:srgbClr val="F0A429"/>
          </a:solidFill>
          <a:ln w="12700">
            <a:solidFill>
              <a:srgbClr val="F0A429"/>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633058" y="4484218"/>
            <a:ext cx="358445" cy="358445"/>
          </a:xfrm>
          <a:prstGeom prst="rect">
            <a:avLst/>
          </a:prstGeom>
        </p:spPr>
      </p:pic>
      <p:sp>
        <p:nvSpPr>
          <p:cNvPr id="22" name="Text 16"/>
          <p:cNvSpPr txBox="1"/>
          <p:nvPr/>
        </p:nvSpPr>
        <p:spPr>
          <a:xfrm>
            <a:off x="6492240" y="5120640"/>
            <a:ext cx="4892040" cy="365760"/>
          </a:xfrm>
          <a:prstGeom prst="rect">
            <a:avLst/>
          </a:prstGeom>
          <a:noFill/>
          <a:ln/>
        </p:spPr>
        <p:txBody>
          <a:bodyPr wrap="square" lIns="0" tIns="0" rIns="0" bIns="0" rtlCol="0" anchor="ctr"/>
          <a:lstStyle/>
          <a:p>
            <a:pPr marL="0" indent="0">
              <a:buNone/>
            </a:pPr>
            <a:r>
              <a:rPr lang="en-US" sz="1700" b="1" dirty="0">
                <a:solidFill>
                  <a:srgbClr val="1B2430"/>
                </a:solidFill>
                <a:latin typeface="Calibri" pitchFamily="34" charset="0"/>
                <a:ea typeface="Calibri" pitchFamily="34" charset="-122"/>
                <a:cs typeface="Calibri" pitchFamily="34" charset="-120"/>
              </a:rPr>
              <a:t>AI reads, never writes</a:t>
            </a:r>
            <a:endParaRPr lang="en-US" sz="1700" dirty="0"/>
          </a:p>
        </p:txBody>
      </p:sp>
      <p:sp>
        <p:nvSpPr>
          <p:cNvPr id="23" name="Text 17"/>
          <p:cNvSpPr txBox="1"/>
          <p:nvPr/>
        </p:nvSpPr>
        <p:spPr>
          <a:xfrm>
            <a:off x="6492240" y="5532120"/>
            <a:ext cx="4892040" cy="365760"/>
          </a:xfrm>
          <a:prstGeom prst="rect">
            <a:avLst/>
          </a:prstGeom>
          <a:noFill/>
          <a:ln/>
        </p:spPr>
        <p:txBody>
          <a:bodyPr wrap="square" lIns="0" tIns="0" rIns="0" bIns="0" rtlCol="0" anchor="t"/>
          <a:lstStyle/>
          <a:p>
            <a:pPr marL="0" indent="0">
              <a:buNone/>
            </a:pPr>
            <a:r>
              <a:rPr lang="en-US" sz="1350" dirty="0">
                <a:solidFill>
                  <a:srgbClr val="6C7A8A"/>
                </a:solidFill>
                <a:latin typeface="Calibri" pitchFamily="34" charset="0"/>
                <a:ea typeface="Calibri" pitchFamily="34" charset="-122"/>
                <a:cs typeface="Calibri" pitchFamily="34" charset="-120"/>
              </a:rPr>
              <a:t>AI queries run through the same connection, inside a transaction that is always rolled back.</a:t>
            </a:r>
            <a:endParaRPr lang="en-US" sz="1350" dirty="0"/>
          </a:p>
        </p:txBody>
      </p:sp>
      <p:sp>
        <p:nvSpPr>
          <p:cNvPr id="24" name="Text 18"/>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Keeping production data safe</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It is real data, so we treat it like real data.</a:t>
            </a:r>
            <a:endParaRPr lang="en-US" sz="1600" dirty="0"/>
          </a:p>
        </p:txBody>
      </p:sp>
      <p:sp>
        <p:nvSpPr>
          <p:cNvPr id="4" name="Shape 2"/>
          <p:cNvSpPr/>
          <p:nvPr/>
        </p:nvSpPr>
        <p:spPr>
          <a:xfrm>
            <a:off x="548640" y="192024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73364" y="2044964"/>
            <a:ext cx="317480" cy="317480"/>
          </a:xfrm>
          <a:prstGeom prst="rect">
            <a:avLst/>
          </a:prstGeom>
        </p:spPr>
      </p:pic>
      <p:sp>
        <p:nvSpPr>
          <p:cNvPr id="6" name="Text 3"/>
          <p:cNvSpPr txBox="1"/>
          <p:nvPr/>
        </p:nvSpPr>
        <p:spPr>
          <a:xfrm>
            <a:off x="1298448" y="1883664"/>
            <a:ext cx="6016752" cy="329184"/>
          </a:xfrm>
          <a:prstGeom prst="rect">
            <a:avLst/>
          </a:prstGeom>
          <a:noFill/>
          <a:ln/>
        </p:spPr>
        <p:txBody>
          <a:bodyPr wrap="square" lIns="0" tIns="0" rIns="0" bIns="0" rtlCol="0" anchor="t"/>
          <a:lstStyle/>
          <a:p>
            <a:pPr marL="0" indent="0">
              <a:buNone/>
            </a:pPr>
            <a:r>
              <a:rPr lang="en-US" sz="1550" b="1" dirty="0">
                <a:solidFill>
                  <a:srgbClr val="1B2430"/>
                </a:solidFill>
                <a:latin typeface="Calibri" pitchFamily="34" charset="0"/>
                <a:ea typeface="Calibri" pitchFamily="34" charset="-122"/>
                <a:cs typeface="Calibri" pitchFamily="34" charset="-120"/>
              </a:rPr>
              <a:t>Lives in one place</a:t>
            </a:r>
            <a:endParaRPr lang="en-US" sz="1550" dirty="0"/>
          </a:p>
        </p:txBody>
      </p:sp>
      <p:sp>
        <p:nvSpPr>
          <p:cNvPr id="7" name="Text 4"/>
          <p:cNvSpPr txBox="1"/>
          <p:nvPr/>
        </p:nvSpPr>
        <p:spPr>
          <a:xfrm>
            <a:off x="1298448" y="2194560"/>
            <a:ext cx="6016752" cy="73152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The copy exists only on the local Docker volume and the backup file. Both are excluded from source control.</a:t>
            </a:r>
            <a:endParaRPr lang="en-US" sz="1300" dirty="0"/>
          </a:p>
        </p:txBody>
      </p:sp>
      <p:sp>
        <p:nvSpPr>
          <p:cNvPr id="8" name="Shape 5"/>
          <p:cNvSpPr/>
          <p:nvPr/>
        </p:nvSpPr>
        <p:spPr>
          <a:xfrm>
            <a:off x="548640" y="297180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673364" y="3096524"/>
            <a:ext cx="317480" cy="317480"/>
          </a:xfrm>
          <a:prstGeom prst="rect">
            <a:avLst/>
          </a:prstGeom>
        </p:spPr>
      </p:pic>
      <p:sp>
        <p:nvSpPr>
          <p:cNvPr id="10" name="Text 6"/>
          <p:cNvSpPr txBox="1"/>
          <p:nvPr/>
        </p:nvSpPr>
        <p:spPr>
          <a:xfrm>
            <a:off x="1298448" y="2935224"/>
            <a:ext cx="6016752" cy="329184"/>
          </a:xfrm>
          <a:prstGeom prst="rect">
            <a:avLst/>
          </a:prstGeom>
          <a:noFill/>
          <a:ln/>
        </p:spPr>
        <p:txBody>
          <a:bodyPr wrap="square" lIns="0" tIns="0" rIns="0" bIns="0" rtlCol="0" anchor="t"/>
          <a:lstStyle/>
          <a:p>
            <a:pPr marL="0" indent="0">
              <a:buNone/>
            </a:pPr>
            <a:r>
              <a:rPr lang="en-US" sz="1550" b="1" dirty="0">
                <a:solidFill>
                  <a:srgbClr val="1B2430"/>
                </a:solidFill>
                <a:latin typeface="Calibri" pitchFamily="34" charset="0"/>
                <a:ea typeface="Calibri" pitchFamily="34" charset="-122"/>
                <a:cs typeface="Calibri" pitchFamily="34" charset="-120"/>
              </a:rPr>
              <a:t>Never pushed back to the cloud</a:t>
            </a:r>
            <a:endParaRPr lang="en-US" sz="1550" dirty="0"/>
          </a:p>
        </p:txBody>
      </p:sp>
      <p:sp>
        <p:nvSpPr>
          <p:cNvPr id="11" name="Text 7"/>
          <p:cNvSpPr txBox="1"/>
          <p:nvPr/>
        </p:nvSpPr>
        <p:spPr>
          <a:xfrm>
            <a:off x="1298448" y="3246120"/>
            <a:ext cx="6016752" cy="73152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Nothing in this project restores the backup to Azure. The Azure deployment points at the existing database.</a:t>
            </a:r>
            <a:endParaRPr lang="en-US" sz="1300" dirty="0"/>
          </a:p>
        </p:txBody>
      </p:sp>
      <p:sp>
        <p:nvSpPr>
          <p:cNvPr id="12" name="Shape 8"/>
          <p:cNvSpPr/>
          <p:nvPr/>
        </p:nvSpPr>
        <p:spPr>
          <a:xfrm>
            <a:off x="548640" y="402336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673364" y="4148084"/>
            <a:ext cx="317480" cy="317480"/>
          </a:xfrm>
          <a:prstGeom prst="rect">
            <a:avLst/>
          </a:prstGeom>
        </p:spPr>
      </p:pic>
      <p:sp>
        <p:nvSpPr>
          <p:cNvPr id="14" name="Text 9"/>
          <p:cNvSpPr txBox="1"/>
          <p:nvPr/>
        </p:nvSpPr>
        <p:spPr>
          <a:xfrm>
            <a:off x="1298448" y="3986784"/>
            <a:ext cx="6016752" cy="329184"/>
          </a:xfrm>
          <a:prstGeom prst="rect">
            <a:avLst/>
          </a:prstGeom>
          <a:noFill/>
          <a:ln/>
        </p:spPr>
        <p:txBody>
          <a:bodyPr wrap="square" lIns="0" tIns="0" rIns="0" bIns="0" rtlCol="0" anchor="t"/>
          <a:lstStyle/>
          <a:p>
            <a:pPr marL="0" indent="0">
              <a:buNone/>
            </a:pPr>
            <a:r>
              <a:rPr lang="en-US" sz="1550" b="1" dirty="0">
                <a:solidFill>
                  <a:srgbClr val="1B2430"/>
                </a:solidFill>
                <a:latin typeface="Calibri" pitchFamily="34" charset="0"/>
                <a:ea typeface="Calibri" pitchFamily="34" charset="-122"/>
                <a:cs typeface="Calibri" pitchFamily="34" charset="-120"/>
              </a:rPr>
              <a:t>No secrets in code</a:t>
            </a:r>
            <a:endParaRPr lang="en-US" sz="1550" dirty="0"/>
          </a:p>
        </p:txBody>
      </p:sp>
      <p:sp>
        <p:nvSpPr>
          <p:cNvPr id="15" name="Text 10"/>
          <p:cNvSpPr txBox="1"/>
          <p:nvPr/>
        </p:nvSpPr>
        <p:spPr>
          <a:xfrm>
            <a:off x="1298448" y="4297680"/>
            <a:ext cx="6016752" cy="73152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Local passwords live in an ignored env file. In Azure it is managed identity end to end.</a:t>
            </a:r>
            <a:endParaRPr lang="en-US" sz="1300" dirty="0"/>
          </a:p>
        </p:txBody>
      </p:sp>
      <p:sp>
        <p:nvSpPr>
          <p:cNvPr id="16" name="Shape 11"/>
          <p:cNvSpPr/>
          <p:nvPr/>
        </p:nvSpPr>
        <p:spPr>
          <a:xfrm>
            <a:off x="548640" y="5074920"/>
            <a:ext cx="566928" cy="566928"/>
          </a:xfrm>
          <a:prstGeom prst="ellipse">
            <a:avLst/>
          </a:prstGeom>
          <a:solidFill>
            <a:srgbClr val="F0A429"/>
          </a:solidFill>
          <a:ln w="12700">
            <a:solidFill>
              <a:srgbClr val="F0A429"/>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673364" y="5199644"/>
            <a:ext cx="317480" cy="317480"/>
          </a:xfrm>
          <a:prstGeom prst="rect">
            <a:avLst/>
          </a:prstGeom>
        </p:spPr>
      </p:pic>
      <p:sp>
        <p:nvSpPr>
          <p:cNvPr id="18" name="Text 12"/>
          <p:cNvSpPr txBox="1"/>
          <p:nvPr/>
        </p:nvSpPr>
        <p:spPr>
          <a:xfrm>
            <a:off x="1298448" y="5038344"/>
            <a:ext cx="6016752" cy="329184"/>
          </a:xfrm>
          <a:prstGeom prst="rect">
            <a:avLst/>
          </a:prstGeom>
          <a:noFill/>
          <a:ln/>
        </p:spPr>
        <p:txBody>
          <a:bodyPr wrap="square" lIns="0" tIns="0" rIns="0" bIns="0" rtlCol="0" anchor="t"/>
          <a:lstStyle/>
          <a:p>
            <a:pPr marL="0" indent="0">
              <a:buNone/>
            </a:pPr>
            <a:r>
              <a:rPr lang="en-US" sz="1550" b="1" dirty="0">
                <a:solidFill>
                  <a:srgbClr val="1B2430"/>
                </a:solidFill>
                <a:latin typeface="Calibri" pitchFamily="34" charset="0"/>
                <a:ea typeface="Calibri" pitchFamily="34" charset="-122"/>
                <a:cs typeface="Calibri" pitchFamily="34" charset="-120"/>
              </a:rPr>
              <a:t>Next: least privilege</a:t>
            </a:r>
            <a:endParaRPr lang="en-US" sz="1550" dirty="0"/>
          </a:p>
        </p:txBody>
      </p:sp>
      <p:sp>
        <p:nvSpPr>
          <p:cNvPr id="19" name="Text 13"/>
          <p:cNvSpPr txBox="1"/>
          <p:nvPr/>
        </p:nvSpPr>
        <p:spPr>
          <a:xfrm>
            <a:off x="1298448" y="5349240"/>
            <a:ext cx="6016752" cy="73152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Give the AI path its own read-only login, and put sign-in in front of the app before anyone but us uses it.</a:t>
            </a:r>
            <a:endParaRPr lang="en-US" sz="1300" dirty="0"/>
          </a:p>
        </p:txBody>
      </p:sp>
      <p:sp>
        <p:nvSpPr>
          <p:cNvPr id="20" name="Shape 14"/>
          <p:cNvSpPr/>
          <p:nvPr/>
        </p:nvSpPr>
        <p:spPr>
          <a:xfrm>
            <a:off x="7772400" y="2011680"/>
            <a:ext cx="3931920" cy="2457450"/>
          </a:xfrm>
          <a:prstGeom prst="roundRect">
            <a:avLst>
              <a:gd name="adj" fmla="val 2977"/>
            </a:avLst>
          </a:prstGeom>
          <a:solidFill>
            <a:srgbClr val="FFFFFF"/>
          </a:solidFill>
          <a:ln w="9525">
            <a:solidFill>
              <a:srgbClr val="D9DFE7"/>
            </a:solidFill>
            <a:prstDash val="solid"/>
          </a:ln>
          <a:effectLst>
            <a:outerShdw blurRad="127000" dist="38100" dir="5400000" algn="bl" rotWithShape="0">
              <a:srgbClr val="000000">
                <a:alpha val="18000"/>
              </a:srgbClr>
            </a:outerShdw>
          </a:effectLst>
        </p:spPr>
        <p:txBody>
          <a:bodyPr/>
          <a:lstStyle/>
          <a:p>
            <a:endParaRPr lang="en-US"/>
          </a:p>
        </p:txBody>
      </p:sp>
      <p:pic>
        <p:nvPicPr>
          <p:cNvPr id="21" name="Image 4" descr="C:\Users\Kevin.Raffay\AppData\Local\Temp\claude\C--Sandbox-blazor-demo\8c585967-9a02-409f-ada6-232ab0e020b3\scratchpad\deck\shots\bottlers.png"/>
          <p:cNvPicPr>
            <a:picLocks noChangeAspect="1"/>
          </p:cNvPicPr>
          <p:nvPr/>
        </p:nvPicPr>
        <p:blipFill>
          <a:blip r:embed="rId7"/>
          <a:stretch>
            <a:fillRect/>
          </a:stretch>
        </p:blipFill>
        <p:spPr>
          <a:xfrm>
            <a:off x="7845552" y="2084832"/>
            <a:ext cx="3785616" cy="2311146"/>
          </a:xfrm>
          <a:prstGeom prst="rect">
            <a:avLst/>
          </a:prstGeom>
        </p:spPr>
      </p:pic>
      <p:sp>
        <p:nvSpPr>
          <p:cNvPr id="22" name="Text 15"/>
          <p:cNvSpPr txBox="1"/>
          <p:nvPr/>
        </p:nvSpPr>
        <p:spPr>
          <a:xfrm>
            <a:off x="7772400" y="4617720"/>
            <a:ext cx="3931920" cy="320040"/>
          </a:xfrm>
          <a:prstGeom prst="rect">
            <a:avLst/>
          </a:prstGeom>
          <a:noFill/>
          <a:ln/>
        </p:spPr>
        <p:txBody>
          <a:bodyPr wrap="square" lIns="0" tIns="0" rIns="0" bIns="0" rtlCol="0" anchor="ctr"/>
          <a:lstStyle/>
          <a:p>
            <a:pPr marL="0" indent="0" algn="ctr">
              <a:buNone/>
            </a:pPr>
            <a:r>
              <a:rPr lang="en-US" sz="1150" i="1" dirty="0">
                <a:solidFill>
                  <a:srgbClr val="6C7A8A"/>
                </a:solidFill>
                <a:latin typeface="Calibri" pitchFamily="34" charset="0"/>
                <a:ea typeface="Calibri" pitchFamily="34" charset="-122"/>
                <a:cs typeface="Calibri" pitchFamily="34" charset="-120"/>
              </a:rPr>
              <a:t>Real bottlers, real ids. Handle with care.</a:t>
            </a:r>
            <a:endParaRPr lang="en-US" sz="1150" dirty="0"/>
          </a:p>
        </p:txBody>
      </p:sp>
      <p:sp>
        <p:nvSpPr>
          <p:cNvPr id="23" name="Text 1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marL="0" indent="0">
              <a:buNone/>
            </a:pPr>
            <a:r>
              <a:rPr lang="en-US" sz="3400" b="1" dirty="0">
                <a:solidFill>
                  <a:srgbClr val="13233A"/>
                </a:solidFill>
                <a:latin typeface="Cambria" pitchFamily="34" charset="0"/>
                <a:ea typeface="Cambria" pitchFamily="34" charset="-122"/>
                <a:cs typeface="Cambria" pitchFamily="34" charset="-120"/>
              </a:rPr>
              <a:t>What's next, if you want more</a:t>
            </a:r>
            <a:endParaRPr lang="en-US" sz="34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1600" i="1" dirty="0">
                <a:solidFill>
                  <a:srgbClr val="6C7A8A"/>
                </a:solidFill>
                <a:latin typeface="Calibri" pitchFamily="34" charset="0"/>
                <a:ea typeface="Calibri" pitchFamily="34" charset="-122"/>
                <a:cs typeface="Calibri" pitchFamily="34" charset="-120"/>
              </a:rPr>
              <a:t>Small steps, each one useful on its own.</a:t>
            </a:r>
            <a:endParaRPr lang="en-US" sz="1600" dirty="0"/>
          </a:p>
        </p:txBody>
      </p:sp>
      <p:sp>
        <p:nvSpPr>
          <p:cNvPr id="4" name="Shape 2"/>
          <p:cNvSpPr/>
          <p:nvPr/>
        </p:nvSpPr>
        <p:spPr>
          <a:xfrm>
            <a:off x="548640" y="2011680"/>
            <a:ext cx="2697480" cy="3108960"/>
          </a:xfrm>
          <a:prstGeom prst="roundRect">
            <a:avLst>
              <a:gd name="adj" fmla="val 3390"/>
            </a:avLst>
          </a:prstGeom>
          <a:solidFill>
            <a:srgbClr val="F3F5F8"/>
          </a:solidFill>
          <a:ln w="12700">
            <a:solidFill>
              <a:srgbClr val="F3F5F8"/>
            </a:solidFill>
            <a:prstDash val="solid"/>
          </a:ln>
        </p:spPr>
        <p:txBody>
          <a:bodyPr/>
          <a:lstStyle/>
          <a:p>
            <a:endParaRPr lang="en-US"/>
          </a:p>
        </p:txBody>
      </p:sp>
      <p:sp>
        <p:nvSpPr>
          <p:cNvPr id="5" name="Shape 3"/>
          <p:cNvSpPr/>
          <p:nvPr/>
        </p:nvSpPr>
        <p:spPr>
          <a:xfrm>
            <a:off x="822960" y="2286000"/>
            <a:ext cx="640080" cy="640080"/>
          </a:xfrm>
          <a:prstGeom prst="ellipse">
            <a:avLst/>
          </a:prstGeom>
          <a:solidFill>
            <a:srgbClr val="13233A"/>
          </a:solidFill>
          <a:ln w="12700">
            <a:solidFill>
              <a:srgbClr val="13233A"/>
            </a:solidFill>
            <a:prstDash val="solid"/>
          </a:ln>
        </p:spPr>
        <p:txBody>
          <a:bodyPr/>
          <a:lstStyle/>
          <a:p>
            <a:endParaRPr lang="en-US"/>
          </a:p>
        </p:txBody>
      </p:sp>
      <p:sp>
        <p:nvSpPr>
          <p:cNvPr id="6" name="Text 4"/>
          <p:cNvSpPr txBox="1"/>
          <p:nvPr/>
        </p:nvSpPr>
        <p:spPr>
          <a:xfrm>
            <a:off x="822960" y="2286000"/>
            <a:ext cx="640080" cy="640080"/>
          </a:xfrm>
          <a:prstGeom prst="rect">
            <a:avLst/>
          </a:prstGeom>
          <a:noFill/>
          <a:ln/>
        </p:spPr>
        <p:txBody>
          <a:bodyPr wrap="square" lIns="0" tIns="0" rIns="0" bIns="0" rtlCol="0" anchor="ctr"/>
          <a:lstStyle/>
          <a:p>
            <a:pPr marL="0" indent="0" algn="ctr">
              <a:buNone/>
            </a:pPr>
            <a:r>
              <a:rPr lang="en-US" sz="2000" b="1" dirty="0">
                <a:solidFill>
                  <a:srgbClr val="F0A429"/>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822960" y="3108960"/>
            <a:ext cx="2194560" cy="594360"/>
          </a:xfrm>
          <a:prstGeom prst="rect">
            <a:avLst/>
          </a:prstGeom>
          <a:noFill/>
          <a:ln/>
        </p:spPr>
        <p:txBody>
          <a:bodyPr wrap="square" lIns="0" tIns="0" rIns="0" bIns="0" rtlCol="0" anchor="t"/>
          <a:lstStyle/>
          <a:p>
            <a:pPr marL="0" indent="0">
              <a:buNone/>
            </a:pPr>
            <a:r>
              <a:rPr lang="en-US" sz="1600" b="1" dirty="0">
                <a:solidFill>
                  <a:srgbClr val="1B2430"/>
                </a:solidFill>
                <a:latin typeface="Calibri" pitchFamily="34" charset="0"/>
                <a:ea typeface="Calibri" pitchFamily="34" charset="-122"/>
                <a:cs typeface="Calibri" pitchFamily="34" charset="-120"/>
              </a:rPr>
              <a:t>Real model, real documents</a:t>
            </a:r>
            <a:endParaRPr lang="en-US" sz="1600" dirty="0"/>
          </a:p>
        </p:txBody>
      </p:sp>
      <p:sp>
        <p:nvSpPr>
          <p:cNvPr id="8" name="Text 6"/>
          <p:cNvSpPr txBox="1"/>
          <p:nvPr/>
        </p:nvSpPr>
        <p:spPr>
          <a:xfrm>
            <a:off x="822960" y="3749040"/>
            <a:ext cx="2194560" cy="128016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Switch the AI to Azure OpenAI or a local model and index the actual customer documents.</a:t>
            </a:r>
            <a:endParaRPr lang="en-US" sz="1300" dirty="0"/>
          </a:p>
        </p:txBody>
      </p:sp>
      <p:sp>
        <p:nvSpPr>
          <p:cNvPr id="9" name="Shape 7"/>
          <p:cNvSpPr/>
          <p:nvPr/>
        </p:nvSpPr>
        <p:spPr>
          <a:xfrm>
            <a:off x="3383280" y="2011680"/>
            <a:ext cx="2697480" cy="3108960"/>
          </a:xfrm>
          <a:prstGeom prst="roundRect">
            <a:avLst>
              <a:gd name="adj" fmla="val 3390"/>
            </a:avLst>
          </a:prstGeom>
          <a:solidFill>
            <a:srgbClr val="F3F5F8"/>
          </a:solidFill>
          <a:ln w="12700">
            <a:solidFill>
              <a:srgbClr val="F3F5F8"/>
            </a:solidFill>
            <a:prstDash val="solid"/>
          </a:ln>
        </p:spPr>
        <p:txBody>
          <a:bodyPr/>
          <a:lstStyle/>
          <a:p>
            <a:endParaRPr lang="en-US"/>
          </a:p>
        </p:txBody>
      </p:sp>
      <p:sp>
        <p:nvSpPr>
          <p:cNvPr id="10" name="Shape 8"/>
          <p:cNvSpPr/>
          <p:nvPr/>
        </p:nvSpPr>
        <p:spPr>
          <a:xfrm>
            <a:off x="3657600" y="2286000"/>
            <a:ext cx="640080" cy="640080"/>
          </a:xfrm>
          <a:prstGeom prst="ellipse">
            <a:avLst/>
          </a:prstGeom>
          <a:solidFill>
            <a:srgbClr val="13233A"/>
          </a:solidFill>
          <a:ln w="12700">
            <a:solidFill>
              <a:srgbClr val="13233A"/>
            </a:solidFill>
            <a:prstDash val="solid"/>
          </a:ln>
        </p:spPr>
        <p:txBody>
          <a:bodyPr/>
          <a:lstStyle/>
          <a:p>
            <a:endParaRPr lang="en-US"/>
          </a:p>
        </p:txBody>
      </p:sp>
      <p:sp>
        <p:nvSpPr>
          <p:cNvPr id="11" name="Text 9"/>
          <p:cNvSpPr txBox="1"/>
          <p:nvPr/>
        </p:nvSpPr>
        <p:spPr>
          <a:xfrm>
            <a:off x="3657600" y="2286000"/>
            <a:ext cx="640080" cy="640080"/>
          </a:xfrm>
          <a:prstGeom prst="rect">
            <a:avLst/>
          </a:prstGeom>
          <a:noFill/>
          <a:ln/>
        </p:spPr>
        <p:txBody>
          <a:bodyPr wrap="square" lIns="0" tIns="0" rIns="0" bIns="0" rtlCol="0" anchor="ctr"/>
          <a:lstStyle/>
          <a:p>
            <a:pPr marL="0" indent="0" algn="ctr">
              <a:buNone/>
            </a:pPr>
            <a:r>
              <a:rPr lang="en-US" sz="2000" b="1" dirty="0">
                <a:solidFill>
                  <a:srgbClr val="F0A429"/>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3657600" y="3108960"/>
            <a:ext cx="2194560" cy="594360"/>
          </a:xfrm>
          <a:prstGeom prst="rect">
            <a:avLst/>
          </a:prstGeom>
          <a:noFill/>
          <a:ln/>
        </p:spPr>
        <p:txBody>
          <a:bodyPr wrap="square" lIns="0" tIns="0" rIns="0" bIns="0" rtlCol="0" anchor="t"/>
          <a:lstStyle/>
          <a:p>
            <a:pPr marL="0" indent="0">
              <a:buNone/>
            </a:pPr>
            <a:r>
              <a:rPr lang="en-US" sz="1600" b="1" dirty="0">
                <a:solidFill>
                  <a:srgbClr val="1B2430"/>
                </a:solidFill>
                <a:latin typeface="Calibri" pitchFamily="34" charset="0"/>
                <a:ea typeface="Calibri" pitchFamily="34" charset="-122"/>
                <a:cs typeface="Calibri" pitchFamily="34" charset="-120"/>
              </a:rPr>
              <a:t>Sign-in and least privilege</a:t>
            </a:r>
            <a:endParaRPr lang="en-US" sz="1600" dirty="0"/>
          </a:p>
        </p:txBody>
      </p:sp>
      <p:sp>
        <p:nvSpPr>
          <p:cNvPr id="13" name="Text 11"/>
          <p:cNvSpPr txBox="1"/>
          <p:nvPr/>
        </p:nvSpPr>
        <p:spPr>
          <a:xfrm>
            <a:off x="3657600" y="3749040"/>
            <a:ext cx="2194560" cy="128016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Entra ID in front of the app, a read-only database login for the AI path.</a:t>
            </a:r>
            <a:endParaRPr lang="en-US" sz="1300" dirty="0"/>
          </a:p>
        </p:txBody>
      </p:sp>
      <p:sp>
        <p:nvSpPr>
          <p:cNvPr id="14" name="Shape 12"/>
          <p:cNvSpPr/>
          <p:nvPr/>
        </p:nvSpPr>
        <p:spPr>
          <a:xfrm>
            <a:off x="6217920" y="2011680"/>
            <a:ext cx="2697480" cy="3108960"/>
          </a:xfrm>
          <a:prstGeom prst="roundRect">
            <a:avLst>
              <a:gd name="adj" fmla="val 3390"/>
            </a:avLst>
          </a:prstGeom>
          <a:solidFill>
            <a:srgbClr val="F3F5F8"/>
          </a:solidFill>
          <a:ln w="12700">
            <a:solidFill>
              <a:srgbClr val="F3F5F8"/>
            </a:solidFill>
            <a:prstDash val="solid"/>
          </a:ln>
        </p:spPr>
        <p:txBody>
          <a:bodyPr/>
          <a:lstStyle/>
          <a:p>
            <a:endParaRPr lang="en-US"/>
          </a:p>
        </p:txBody>
      </p:sp>
      <p:sp>
        <p:nvSpPr>
          <p:cNvPr id="15" name="Shape 13"/>
          <p:cNvSpPr/>
          <p:nvPr/>
        </p:nvSpPr>
        <p:spPr>
          <a:xfrm>
            <a:off x="6492240" y="2286000"/>
            <a:ext cx="640080" cy="640080"/>
          </a:xfrm>
          <a:prstGeom prst="ellipse">
            <a:avLst/>
          </a:prstGeom>
          <a:solidFill>
            <a:srgbClr val="13233A"/>
          </a:solidFill>
          <a:ln w="12700">
            <a:solidFill>
              <a:srgbClr val="13233A"/>
            </a:solidFill>
            <a:prstDash val="solid"/>
          </a:ln>
        </p:spPr>
        <p:txBody>
          <a:bodyPr/>
          <a:lstStyle/>
          <a:p>
            <a:endParaRPr lang="en-US"/>
          </a:p>
        </p:txBody>
      </p:sp>
      <p:sp>
        <p:nvSpPr>
          <p:cNvPr id="16" name="Text 14"/>
          <p:cNvSpPr txBox="1"/>
          <p:nvPr/>
        </p:nvSpPr>
        <p:spPr>
          <a:xfrm>
            <a:off x="6492240" y="2286000"/>
            <a:ext cx="640080" cy="640080"/>
          </a:xfrm>
          <a:prstGeom prst="rect">
            <a:avLst/>
          </a:prstGeom>
          <a:noFill/>
          <a:ln/>
        </p:spPr>
        <p:txBody>
          <a:bodyPr wrap="square" lIns="0" tIns="0" rIns="0" bIns="0" rtlCol="0" anchor="ctr"/>
          <a:lstStyle/>
          <a:p>
            <a:pPr marL="0" indent="0" algn="ctr">
              <a:buNone/>
            </a:pPr>
            <a:r>
              <a:rPr lang="en-US" sz="2000" b="1" dirty="0">
                <a:solidFill>
                  <a:srgbClr val="F0A429"/>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6492240" y="3108960"/>
            <a:ext cx="2194560" cy="594360"/>
          </a:xfrm>
          <a:prstGeom prst="rect">
            <a:avLst/>
          </a:prstGeom>
          <a:noFill/>
          <a:ln/>
        </p:spPr>
        <p:txBody>
          <a:bodyPr wrap="square" lIns="0" tIns="0" rIns="0" bIns="0" rtlCol="0" anchor="t"/>
          <a:lstStyle/>
          <a:p>
            <a:pPr marL="0" indent="0">
              <a:buNone/>
            </a:pPr>
            <a:r>
              <a:rPr lang="en-US" sz="1600" b="1" dirty="0">
                <a:solidFill>
                  <a:srgbClr val="1B2430"/>
                </a:solidFill>
                <a:latin typeface="Calibri" pitchFamily="34" charset="0"/>
                <a:ea typeface="Calibri" pitchFamily="34" charset="-122"/>
                <a:cs typeface="Calibri" pitchFamily="34" charset="-120"/>
              </a:rPr>
              <a:t>Pilot in Azure</a:t>
            </a:r>
            <a:endParaRPr lang="en-US" sz="1600" dirty="0"/>
          </a:p>
        </p:txBody>
      </p:sp>
      <p:sp>
        <p:nvSpPr>
          <p:cNvPr id="18" name="Text 16"/>
          <p:cNvSpPr txBox="1"/>
          <p:nvPr/>
        </p:nvSpPr>
        <p:spPr>
          <a:xfrm>
            <a:off x="6492240" y="3749040"/>
            <a:ext cx="2194560" cy="128016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Deploy to Container Apps against the existing database for a small ops group.</a:t>
            </a:r>
            <a:endParaRPr lang="en-US" sz="1300" dirty="0"/>
          </a:p>
        </p:txBody>
      </p:sp>
      <p:sp>
        <p:nvSpPr>
          <p:cNvPr id="19" name="Shape 17"/>
          <p:cNvSpPr/>
          <p:nvPr/>
        </p:nvSpPr>
        <p:spPr>
          <a:xfrm>
            <a:off x="9052560" y="2011680"/>
            <a:ext cx="2697480" cy="3108960"/>
          </a:xfrm>
          <a:prstGeom prst="roundRect">
            <a:avLst>
              <a:gd name="adj" fmla="val 3390"/>
            </a:avLst>
          </a:prstGeom>
          <a:solidFill>
            <a:srgbClr val="F3F5F8"/>
          </a:solidFill>
          <a:ln w="12700">
            <a:solidFill>
              <a:srgbClr val="F3F5F8"/>
            </a:solidFill>
            <a:prstDash val="solid"/>
          </a:ln>
        </p:spPr>
        <p:txBody>
          <a:bodyPr/>
          <a:lstStyle/>
          <a:p>
            <a:endParaRPr lang="en-US"/>
          </a:p>
        </p:txBody>
      </p:sp>
      <p:sp>
        <p:nvSpPr>
          <p:cNvPr id="20" name="Shape 18"/>
          <p:cNvSpPr/>
          <p:nvPr/>
        </p:nvSpPr>
        <p:spPr>
          <a:xfrm>
            <a:off x="9326880" y="2286000"/>
            <a:ext cx="640080" cy="640080"/>
          </a:xfrm>
          <a:prstGeom prst="ellipse">
            <a:avLst/>
          </a:prstGeom>
          <a:solidFill>
            <a:srgbClr val="13233A"/>
          </a:solidFill>
          <a:ln w="12700">
            <a:solidFill>
              <a:srgbClr val="13233A"/>
            </a:solidFill>
            <a:prstDash val="solid"/>
          </a:ln>
        </p:spPr>
        <p:txBody>
          <a:bodyPr/>
          <a:lstStyle/>
          <a:p>
            <a:endParaRPr lang="en-US"/>
          </a:p>
        </p:txBody>
      </p:sp>
      <p:sp>
        <p:nvSpPr>
          <p:cNvPr id="21" name="Text 19"/>
          <p:cNvSpPr txBox="1"/>
          <p:nvPr/>
        </p:nvSpPr>
        <p:spPr>
          <a:xfrm>
            <a:off x="9326880" y="2286000"/>
            <a:ext cx="640080" cy="640080"/>
          </a:xfrm>
          <a:prstGeom prst="rect">
            <a:avLst/>
          </a:prstGeom>
          <a:noFill/>
          <a:ln/>
        </p:spPr>
        <p:txBody>
          <a:bodyPr wrap="square" lIns="0" tIns="0" rIns="0" bIns="0" rtlCol="0" anchor="ctr"/>
          <a:lstStyle/>
          <a:p>
            <a:pPr marL="0" indent="0" algn="ctr">
              <a:buNone/>
            </a:pPr>
            <a:r>
              <a:rPr lang="en-US" sz="2000" b="1" dirty="0">
                <a:solidFill>
                  <a:srgbClr val="F0A429"/>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9326880" y="3108960"/>
            <a:ext cx="2194560" cy="594360"/>
          </a:xfrm>
          <a:prstGeom prst="rect">
            <a:avLst/>
          </a:prstGeom>
          <a:noFill/>
          <a:ln/>
        </p:spPr>
        <p:txBody>
          <a:bodyPr wrap="square" lIns="0" tIns="0" rIns="0" bIns="0" rtlCol="0" anchor="t"/>
          <a:lstStyle/>
          <a:p>
            <a:pPr marL="0" indent="0">
              <a:buNone/>
            </a:pPr>
            <a:r>
              <a:rPr lang="en-US" sz="1600" b="1" dirty="0">
                <a:solidFill>
                  <a:srgbClr val="1B2430"/>
                </a:solidFill>
                <a:latin typeface="Calibri" pitchFamily="34" charset="0"/>
                <a:ea typeface="Calibri" pitchFamily="34" charset="-122"/>
                <a:cs typeface="Calibri" pitchFamily="34" charset="-120"/>
              </a:rPr>
              <a:t>Grow the screens</a:t>
            </a:r>
            <a:endParaRPr lang="en-US" sz="1600" dirty="0"/>
          </a:p>
        </p:txBody>
      </p:sp>
      <p:sp>
        <p:nvSpPr>
          <p:cNvPr id="23" name="Text 21"/>
          <p:cNvSpPr txBox="1"/>
          <p:nvPr/>
        </p:nvSpPr>
        <p:spPr>
          <a:xfrm>
            <a:off x="9326880" y="3749040"/>
            <a:ext cx="2194560" cy="1280160"/>
          </a:xfrm>
          <a:prstGeom prst="rect">
            <a:avLst/>
          </a:prstGeom>
          <a:noFill/>
          <a:ln/>
        </p:spPr>
        <p:txBody>
          <a:bodyPr wrap="square" lIns="0" tIns="0" rIns="0" bIns="0" rtlCol="0" anchor="t"/>
          <a:lstStyle/>
          <a:p>
            <a:pPr marL="0" indent="0">
              <a:buNone/>
            </a:pPr>
            <a:r>
              <a:rPr lang="en-US" sz="1300" dirty="0">
                <a:solidFill>
                  <a:srgbClr val="6C7A8A"/>
                </a:solidFill>
                <a:latin typeface="Calibri" pitchFamily="34" charset="0"/>
                <a:ea typeface="Calibri" pitchFamily="34" charset="-122"/>
                <a:cs typeface="Calibri" pitchFamily="34" charset="-120"/>
              </a:rPr>
              <a:t>More tables as ops asks for them. Each new screen is a grid, a dialog and an afternoon.</a:t>
            </a:r>
            <a:endParaRPr lang="en-US" sz="1300" dirty="0"/>
          </a:p>
        </p:txBody>
      </p:sp>
      <p:sp>
        <p:nvSpPr>
          <p:cNvPr id="24" name="Text 22"/>
          <p:cNvSpPr txBox="1"/>
          <p:nvPr/>
        </p:nvSpPr>
        <p:spPr>
          <a:xfrm>
            <a:off x="548640" y="5440680"/>
            <a:ext cx="10972800" cy="411480"/>
          </a:xfrm>
          <a:prstGeom prst="rect">
            <a:avLst/>
          </a:prstGeom>
          <a:noFill/>
          <a:ln/>
        </p:spPr>
        <p:txBody>
          <a:bodyPr wrap="square" lIns="0" tIns="0" rIns="0" bIns="0" rtlCol="0" anchor="ctr"/>
          <a:lstStyle/>
          <a:p>
            <a:pPr marL="0" indent="0">
              <a:buNone/>
            </a:pPr>
            <a:r>
              <a:rPr lang="en-US" sz="1400" i="1" dirty="0">
                <a:solidFill>
                  <a:srgbClr val="1B2430"/>
                </a:solidFill>
                <a:latin typeface="Calibri" pitchFamily="34" charset="0"/>
                <a:ea typeface="Calibri" pitchFamily="34" charset="-122"/>
                <a:cs typeface="Calibri" pitchFamily="34" charset="-120"/>
              </a:rPr>
              <a:t>None of these require rework. The plumbing for all four is already in the repo.</a:t>
            </a:r>
            <a:endParaRPr lang="en-US" sz="1400" dirty="0"/>
          </a:p>
        </p:txBody>
      </p:sp>
      <p:sp>
        <p:nvSpPr>
          <p:cNvPr id="25" name="Text 23"/>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C7A8A"/>
                </a:solidFill>
                <a:latin typeface="Calibri" pitchFamily="34" charset="0"/>
                <a:ea typeface="Calibri" pitchFamily="34" charset="-122"/>
                <a:cs typeface="Calibri" pitchFamily="34" charset="-120"/>
              </a:rPr>
              <a:t>Invoice Portal Admin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33A"/>
        </a:solidFill>
        <a:effectLst/>
      </p:bgPr>
    </p:bg>
    <p:spTree>
      <p:nvGrpSpPr>
        <p:cNvPr id="1" name=""/>
        <p:cNvGrpSpPr/>
        <p:nvPr/>
      </p:nvGrpSpPr>
      <p:grpSpPr>
        <a:xfrm>
          <a:off x="0" y="0"/>
          <a:ext cx="0" cy="0"/>
          <a:chOff x="0" y="0"/>
          <a:chExt cx="0" cy="0"/>
        </a:xfrm>
      </p:grpSpPr>
      <p:sp>
        <p:nvSpPr>
          <p:cNvPr id="2" name="Shape 0"/>
          <p:cNvSpPr/>
          <p:nvPr/>
        </p:nvSpPr>
        <p:spPr>
          <a:xfrm>
            <a:off x="-1645920" y="3291840"/>
            <a:ext cx="5120640" cy="5120640"/>
          </a:xfrm>
          <a:prstGeom prst="ellipse">
            <a:avLst/>
          </a:prstGeom>
          <a:solidFill>
            <a:srgbClr val="1E3556"/>
          </a:solidFill>
          <a:ln w="12700">
            <a:solidFill>
              <a:srgbClr val="1E3556"/>
            </a:solidFill>
            <a:prstDash val="solid"/>
          </a:ln>
        </p:spPr>
        <p:txBody>
          <a:bodyPr/>
          <a:lstStyle/>
          <a:p>
            <a:endParaRPr lang="en-US"/>
          </a:p>
        </p:txBody>
      </p:sp>
      <p:sp>
        <p:nvSpPr>
          <p:cNvPr id="3" name="Shape 1"/>
          <p:cNvSpPr/>
          <p:nvPr/>
        </p:nvSpPr>
        <p:spPr>
          <a:xfrm>
            <a:off x="10241280" y="-822960"/>
            <a:ext cx="2194560" cy="2194560"/>
          </a:xfrm>
          <a:prstGeom prst="ellipse">
            <a:avLst/>
          </a:prstGeom>
          <a:solidFill>
            <a:srgbClr val="F0A429"/>
          </a:solidFill>
          <a:ln w="12700">
            <a:solidFill>
              <a:srgbClr val="F0A429"/>
            </a:solidFill>
            <a:prstDash val="solid"/>
          </a:ln>
        </p:spPr>
        <p:txBody>
          <a:bodyPr/>
          <a:lstStyle/>
          <a:p>
            <a:endParaRPr lang="en-US"/>
          </a:p>
        </p:txBody>
      </p:sp>
      <p:sp>
        <p:nvSpPr>
          <p:cNvPr id="4" name="Text 2"/>
          <p:cNvSpPr txBox="1"/>
          <p:nvPr/>
        </p:nvSpPr>
        <p:spPr>
          <a:xfrm>
            <a:off x="731520" y="1463040"/>
            <a:ext cx="7315200" cy="10972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Questions?</a:t>
            </a:r>
            <a:endParaRPr lang="en-US" sz="4800" dirty="0"/>
          </a:p>
        </p:txBody>
      </p:sp>
      <p:sp>
        <p:nvSpPr>
          <p:cNvPr id="5" name="Text 3"/>
          <p:cNvSpPr txBox="1"/>
          <p:nvPr/>
        </p:nvSpPr>
        <p:spPr>
          <a:xfrm>
            <a:off x="731520" y="2743200"/>
            <a:ext cx="777240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E3EAF2"/>
                </a:solidFill>
                <a:latin typeface="Calibri" pitchFamily="34" charset="0"/>
                <a:ea typeface="Calibri" pitchFamily="34" charset="-122"/>
                <a:cs typeface="Calibri" pitchFamily="34" charset="-120"/>
              </a:rPr>
              <a:t>A modern, safe screen over the real Invoice Portal data.</a:t>
            </a:r>
            <a:endParaRPr lang="en-US" sz="1800" dirty="0"/>
          </a:p>
          <a:p>
            <a:pPr marL="342900" indent="-342900">
              <a:spcAft>
                <a:spcPts val="1200"/>
              </a:spcAft>
              <a:buSzPct val="100000"/>
              <a:buChar char="•"/>
            </a:pPr>
            <a:r>
              <a:rPr lang="en-US" sz="1800" dirty="0">
                <a:solidFill>
                  <a:srgbClr val="E3EAF2"/>
                </a:solidFill>
                <a:latin typeface="Calibri" pitchFamily="34" charset="0"/>
                <a:ea typeface="Calibri" pitchFamily="34" charset="-122"/>
                <a:cs typeface="Calibri" pitchFamily="34" charset="-120"/>
              </a:rPr>
              <a:t>AI that helps you ask, and cannot change a thing.</a:t>
            </a:r>
            <a:endParaRPr lang="en-US" sz="1800" dirty="0"/>
          </a:p>
          <a:p>
            <a:pPr marL="342900" indent="-342900">
              <a:spcAft>
                <a:spcPts val="1200"/>
              </a:spcAft>
              <a:buSzPct val="100000"/>
              <a:buChar char="•"/>
            </a:pPr>
            <a:r>
              <a:rPr lang="en-US" sz="1800" dirty="0">
                <a:solidFill>
                  <a:srgbClr val="E3EAF2"/>
                </a:solidFill>
                <a:latin typeface="Calibri" pitchFamily="34" charset="0"/>
                <a:ea typeface="Calibri" pitchFamily="34" charset="-122"/>
                <a:cs typeface="Calibri" pitchFamily="34" charset="-120"/>
              </a:rPr>
              <a:t>Runs on a laptop today, ready for Azure when you are.</a:t>
            </a:r>
            <a:endParaRPr lang="en-US" sz="1800" dirty="0"/>
          </a:p>
        </p:txBody>
      </p:sp>
      <p:sp>
        <p:nvSpPr>
          <p:cNvPr id="6" name="Text 4"/>
          <p:cNvSpPr txBox="1"/>
          <p:nvPr/>
        </p:nvSpPr>
        <p:spPr>
          <a:xfrm>
            <a:off x="731520" y="5120640"/>
            <a:ext cx="7315200" cy="365760"/>
          </a:xfrm>
          <a:prstGeom prst="rect">
            <a:avLst/>
          </a:prstGeom>
          <a:noFill/>
          <a:ln/>
        </p:spPr>
        <p:txBody>
          <a:bodyPr wrap="square" lIns="0" tIns="0" rIns="0" bIns="0" rtlCol="0" anchor="ctr"/>
          <a:lstStyle/>
          <a:p>
            <a:pPr marL="0" indent="0">
              <a:buNone/>
            </a:pPr>
            <a:r>
              <a:rPr lang="en-US" sz="1400" dirty="0">
                <a:solidFill>
                  <a:srgbClr val="8FA3BA"/>
                </a:solidFill>
                <a:latin typeface="Calibri" pitchFamily="34" charset="0"/>
                <a:ea typeface="Calibri" pitchFamily="34" charset="-122"/>
                <a:cs typeface="Calibri" pitchFamily="34" charset="-120"/>
              </a:rPr>
              <a:t>Kevin Raffay  </a:t>
            </a:r>
            <a:r>
              <a:rPr lang="en-US" sz="1400">
                <a:solidFill>
                  <a:srgbClr val="8FA3BA"/>
                </a:solidFill>
                <a:latin typeface="Calibri" pitchFamily="34" charset="0"/>
                <a:ea typeface="Calibri" pitchFamily="34" charset="-122"/>
                <a:cs typeface="Calibri" pitchFamily="34" charset="-120"/>
              </a:rPr>
              <a:t>·  </a:t>
            </a:r>
            <a:endParaRPr lang="en-US" sz="14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8FA3BA"/>
                </a:solidFill>
                <a:latin typeface="Calibri" pitchFamily="34" charset="0"/>
                <a:ea typeface="Calibri" pitchFamily="34" charset="-122"/>
                <a:cs typeface="Calibri" pitchFamily="34" charset="-120"/>
              </a:rPr>
              <a:t>Invoice Portal Admin  ·  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b38ccae-ae3a-4ea2-8914-c4caea99805f}" enabled="1" method="Standard" siteId="{f01d65ba-e57e-4f8f-8143-a43ed634f3c2}" contentBits="0" removed="0"/>
</clbl:labelList>
</file>

<file path=docProps/app.xml><?xml version="1.0" encoding="utf-8"?>
<Properties xmlns="http://schemas.openxmlformats.org/officeDocument/2006/extended-properties" xmlns:vt="http://schemas.openxmlformats.org/officeDocument/2006/docPropsVTypes">
  <TotalTime>7</TotalTime>
  <Words>3049</Words>
  <Application>Microsoft Office PowerPoint</Application>
  <PresentationFormat>Widescreen</PresentationFormat>
  <Paragraphs>261</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Invoice Portal Admin – IT briefing</dc:title>
  <dc:subject>PptxGenJS Presentation</dc:subject>
  <dc:creator>Kevin Raffay</dc:creator>
  <cp:lastModifiedBy>Kevin Raffay</cp:lastModifiedBy>
  <cp:revision>2</cp:revision>
  <dcterms:created xsi:type="dcterms:W3CDTF">2026-09-17T00:28:03Z</dcterms:created>
  <dcterms:modified xsi:type="dcterms:W3CDTF">2026-09-17T00:43:06Z</dcterms:modified>
</cp:coreProperties>
</file>